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b6219f67-eb70-29ac-41c0-841260d57b88}">
          <p14:sldIdLst>
            <p14:sldId id="256"/>
          </p14:sldIdLst>
        </p14:section>
        <p14:section name="A oportunidade" id="{4a277179-3ba8-caa0-1cb2-f3608e623fe6}">
          <p14:sldIdLst>
            <p14:sldId id="257"/>
            <p14:sldId id="258"/>
          </p14:sldIdLst>
        </p14:section>
        <p14:section name="Funcionalidades" id="{b8359bbc-df9c-8ec8-b482-606696b5726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Importância" id="{5bcd5c4a-4b0a-d14e-d410-732b75bb5892}">
          <p14:sldIdLst>
            <p14:sldId id="265"/>
            <p14:sldId id="266"/>
            <p14:sldId id="267"/>
          </p14:sldIdLst>
        </p14:section>
        <p14:section name="Próximos passos" id="{60eff0c0-256f-ab6b-5be0-6acb6fdb0553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Invest Moz é um assistente de IA bilingue que dá ao potencial investidor um roteiro geral para se instalar em Moçambique e o encaminha para a Tax Advisory para o trabalho detalhado. Conteúdo jurídico da Tax Advisory, tecnologia da Law Technology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um projecto simples atravessa oito regimes distintos, cada um com a sua lei, entidade e prazos. Hoje o investidor começa por procurar informação dispersa e desactualizada, ou paga uma primeira reunião só para perceber o básico.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Maya, da Cidade do Cabo, noticiada pela Time Out em Agosto de 2026, é um assistente municipal de IA para investidores. O Invest Moz traz a mesma ideia para Moçambique, mas liderada pelo sector privado e ligada directamente a uma firma que executa.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é propositadamente curto. No passo 2 trabalha a IA; no passo 3 a firma ganha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utilizador preenche um formulário curto e o assistente devolve uma ficha de enquadramento. Ao abrir, a página mostra um exemplo completo, para o visitante ver logo o que vai receber.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formulário recolhe os factos que mudam a resposta jurídica. À direita, a comparação sociedade-sucursal retirada dos próprios relatórios da Tax Advisory, mostrada sempre que há capital estrangeiro.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ficha indica os benefícios que o projecto poderá obter ao abrigo do Código dos Benefícios Fiscais e as obrigações recorrentes: INSS, retenções, IVA, Modelos 22 e 20, relatórios à APIEX e renovação de autorizações. Esse calendário é a ponte natural para um contrato de conformidade.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perguntas rápidas dão respostas curtas e fundamentadas, sempre com uma linha concreta sobre o que a firma faria. Nunca redige contratos nem declarações.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objectivo comercial da aplicação: transformar uma pergunta gratuita num pedido qualificado. Antes da primeira chamada, a equipa já sabe o que o investidor quer, onde, com quem e com que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credibilidade é o produto. O assistente está limitado a uma base legislativa revista pela firma, cita o diploma e está instruído a nunca inventar taxas, emolumentos ou prazos. Todas as páginas indicam que se trata de informação geral, não de parecer jurídico ou fiscal.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investidor, rapidez e clareza. Para a firma, uma ferramenta de captação de clientes e de posicionamento. Para o país, menos barreiras de informação antes de cada decisão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Tax Advisory traz a substância jurídica e a relação com o cliente; a LTS traz a tecnologia. Segue o princípio LTS: a IA propõe e uma pessoa valida.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o protótipo funciona dentro do Claude: a IA e o registo de pedidos usam a conta Claude do visitante. Serve para demonstrações, não para o público. A Fase 1 passa-o para um servidor próprio, para qualquer investidor o usar a partir do site da 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Terminar com o pedido de decisão: avançar com a versão pública e instituir a revisão jurídica trimestral para manter o conteúdo actualizado.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242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146304" cy="384048"/>
          </a:xfrm>
          <a:prstGeom prst="rect">
            <a:avLst/>
          </a:prstGeom>
          <a:solidFill>
            <a:srgbClr val="EF2E32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rgbClr val="C9CDEA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28016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331720"/>
            <a:ext cx="69494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E4E6F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C9CDEA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8C"/>
                </a:solidFill>
              </a:rPr>
              <a:t>Invest Moz  ·  Tax Advisory × Law Technology Solutions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CDEA"/>
                </a:solidFill>
              </a:rPr>
              <a:t>TAX ADVISORY  ×  LAW TECHNOLOGY SOLUTIONS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6868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Moz</a:t>
            </a:r>
            <a:endParaRPr lang="en-US" sz="4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331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E6F5"/>
                </a:solidFill>
              </a:rPr>
              <a:t>Assistente de IA para investir e fazer negócios em Moçambique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C9CDEA"/>
                </a:solidFill>
              </a:rPr>
              <a:t>Principais funcionalidades e importância  ·  Maputo, 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O PROBLEMA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Oito regimes jurídicos antes do primeiro dia</a:t>
            </a:r>
            <a:endParaRPr lang="en-US" sz="2400" dirty="0"/>
          </a:p>
        </p:txBody>
      </p:sp>
      <p:sp>
        <p:nvSpPr>
          <p:cNvPr id="4" name="Regime card 1"/>
          <p:cNvSpPr/>
          <p:nvPr/>
        </p:nvSpPr>
        <p:spPr>
          <a:xfrm>
            <a:off x="45720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5361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5910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DL 1/2022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066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Societário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Lda, SA, SAS ou sucursal</a:t>
            </a:r>
            <a:endParaRPr lang="en-US" sz="1400" dirty="0"/>
          </a:p>
        </p:txBody>
      </p:sp>
      <p:sp>
        <p:nvSpPr>
          <p:cNvPr id="9" name="Regime card 2"/>
          <p:cNvSpPr/>
          <p:nvPr/>
        </p:nvSpPr>
        <p:spPr>
          <a:xfrm>
            <a:off x="256032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4912" y="15361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64592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46120" y="15910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Dec. 41/2026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2724912" y="2066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Licenciamento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BAU, sectorial e ambiental</a:t>
            </a:r>
            <a:endParaRPr lang="en-US" sz="1400" dirty="0"/>
          </a:p>
        </p:txBody>
      </p:sp>
      <p:sp>
        <p:nvSpPr>
          <p:cNvPr id="14" name="Regime card 3"/>
          <p:cNvSpPr/>
          <p:nvPr/>
        </p:nvSpPr>
        <p:spPr>
          <a:xfrm>
            <a:off x="466344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28032" y="15361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459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9240" y="15910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Lei 8/2023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828032" y="2066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Investimento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Registo na APIEX, incentivos</a:t>
            </a:r>
            <a:endParaRPr lang="en-US" sz="1400" dirty="0"/>
          </a:p>
        </p:txBody>
      </p:sp>
      <p:sp>
        <p:nvSpPr>
          <p:cNvPr id="19" name="Regime card 4"/>
          <p:cNvSpPr/>
          <p:nvPr/>
        </p:nvSpPr>
        <p:spPr>
          <a:xfrm>
            <a:off x="676656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31152" y="15361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4592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15910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CIRPC · CIVA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931152" y="20665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Impostos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IRPC, IVA, retenções, convenções</a:t>
            </a:r>
            <a:endParaRPr lang="en-US" sz="1400" dirty="0"/>
          </a:p>
        </p:txBody>
      </p:sp>
      <p:sp>
        <p:nvSpPr>
          <p:cNvPr id="24" name="Regime card 5"/>
          <p:cNvSpPr/>
          <p:nvPr/>
        </p:nvSpPr>
        <p:spPr>
          <a:xfrm>
            <a:off x="45720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1792" y="31363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31912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Lei 13/2023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21792" y="36667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Trabalho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Contratos, INSS, salários mínimos</a:t>
            </a:r>
            <a:endParaRPr lang="en-US" sz="1400" dirty="0"/>
          </a:p>
        </p:txBody>
      </p:sp>
      <p:sp>
        <p:nvSpPr>
          <p:cNvPr id="29" name="Regime card 6"/>
          <p:cNvSpPr/>
          <p:nvPr/>
        </p:nvSpPr>
        <p:spPr>
          <a:xfrm>
            <a:off x="256032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2724912" y="31363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24612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246120" y="31912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Dec. 88/2024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2724912" y="36667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Imigração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Quotas, vistos de trabalho, DIRE</a:t>
            </a:r>
            <a:endParaRPr lang="en-US" sz="1400" dirty="0"/>
          </a:p>
        </p:txBody>
      </p:sp>
      <p:sp>
        <p:nvSpPr>
          <p:cNvPr id="34" name="Regime card 7"/>
          <p:cNvSpPr/>
          <p:nvPr/>
        </p:nvSpPr>
        <p:spPr>
          <a:xfrm>
            <a:off x="466344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828032" y="31363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24612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5349240" y="31912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Lei 11/2009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4828032" y="36667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Câmbios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Registo de IDE e empréstimos</a:t>
            </a:r>
            <a:endParaRPr lang="en-US" sz="1400" dirty="0"/>
          </a:p>
        </p:txBody>
      </p:sp>
      <p:sp>
        <p:nvSpPr>
          <p:cNvPr id="39" name="Regime card 8"/>
          <p:cNvSpPr/>
          <p:nvPr/>
        </p:nvSpPr>
        <p:spPr>
          <a:xfrm>
            <a:off x="676656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931152" y="313639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24612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452360" y="3191256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Lei 11/2016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6931152" y="36667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Alfândegas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D8C"/>
                </a:solidFill>
              </a:rPr>
              <a:t>Pauta, Classe K, importação temporária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A INSPIRAÇÃO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da Cidade do Cabo que falta em Moçambique</a:t>
            </a:r>
            <a:endParaRPr lang="en-US" sz="2400" dirty="0"/>
          </a:p>
        </p:txBody>
      </p:sp>
      <p:sp>
        <p:nvSpPr>
          <p:cNvPr id="4" name="Maya card"/>
          <p:cNvSpPr/>
          <p:nvPr/>
        </p:nvSpPr>
        <p:spPr>
          <a:xfrm>
            <a:off x="457200" y="1371600"/>
            <a:ext cx="379476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Maya  ·  Cidade do Cabo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6B6D8C"/>
                </a:solidFill>
              </a:rPr>
              <a:t>Lançada em Agosto de 2026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1A1B38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Assistente de IA para investidores, disponível 24/7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Oito línguas, incluindo afrikaans e isiXhosa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Porta de entrada única para processos municipais, programas e responsáveis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Integrada na campanha “Built for Business” em mais de 60 cidades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25112" y="2656332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2784348"/>
            <a:ext cx="237744" cy="237744"/>
          </a:xfrm>
          <a:prstGeom prst="rect">
            <a:avLst/>
          </a:prstGeom>
        </p:spPr>
      </p:pic>
      <p:sp>
        <p:nvSpPr>
          <p:cNvPr id="8" name="Invest Moz card"/>
          <p:cNvSpPr/>
          <p:nvPr/>
        </p:nvSpPr>
        <p:spPr>
          <a:xfrm>
            <a:off x="4892040" y="1371600"/>
            <a:ext cx="3794760" cy="3063240"/>
          </a:xfrm>
          <a:prstGeom prst="roundRect">
            <a:avLst>
              <a:gd name="adj" fmla="val 2388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16002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Invest Moz  ·  para Moçambique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9CDEA"/>
                </a:solidFill>
              </a:rPr>
              <a:t>Protótipo, Outubro de 2026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Assente na legislação moçambicana em vigor em 2026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Português (pré-AO90) e inglês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Âmbito nacional: qualquer província, qualquer sector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Apoiado por uma firma que executa: constituição, licenciamento, impostos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COMO FUNCIONA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passos da ideia à contratação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25880" y="1828800"/>
            <a:ext cx="1828800" cy="0"/>
          </a:xfrm>
          <a:prstGeom prst="line">
            <a:avLst/>
          </a:prstGeom>
          <a:noFill/>
          <a:ln w="19050">
            <a:solidFill>
              <a:srgbClr val="B9BED9"/>
            </a:solidFill>
            <a:prstDash val="dash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423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Descrever o projecto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529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5C"/>
                </a:solidFill>
              </a:rPr>
              <a:t>Ideia de negócio, província, capital, país do investidor, investimento, trabalhadores, importações, exportações, terra, empréstimos e pagamentos ao estrangeiro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160520" y="1828800"/>
            <a:ext cx="1828800" cy="0"/>
          </a:xfrm>
          <a:prstGeom prst="line">
            <a:avLst/>
          </a:prstGeom>
          <a:noFill/>
          <a:ln w="19050">
            <a:solidFill>
              <a:srgbClr val="B9BED9"/>
            </a:solidFill>
            <a:prstDash val="dash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291840" y="2423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Receber o enquadramento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8529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5C"/>
                </a:solidFill>
              </a:rPr>
              <a:t>Veículo societário, regime APIEX, passos de constituição, licenças, pontos fiscais, laborais, migratórios, cambiais e aduaneiros, benefícios e calendário de obrigações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423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Contratar a Tax Advisory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85292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C5C"/>
                </a:solidFill>
              </a:rPr>
              <a:t>Fazer perguntas e enviar o pedido com o resumo do projecto em anexo, para a equipa orçamentar e avançar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Informação geral gratuita e imediata; aconselhamento, redacção e declarações são serviços pagos.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FUNCIONALIDADE 1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enquadramento à medida de cada projecto</a:t>
            </a:r>
            <a:endParaRPr lang="en-US" sz="24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280160"/>
            <a:ext cx="431596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pic>
        <p:nvPicPr>
          <p:cNvPr id="5" name="Screenshot desk" descr="/tmp/claude-0/-home-claude/7ce77a1c-a38a-5874-896f-bd63390b6b40/scratchpad/deck/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315968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38928" y="1325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426464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41848" y="1289304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Veículo societário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Tipo recomendado e alternativas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138928" y="1984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512" y="2084832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641848" y="194767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Regime de investimento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Limiar APIEX e entidade competente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138928" y="26426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74320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641848" y="260604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Passos por ordem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CREL, NUIT, APIEX, BdM, INSS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138928" y="33009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340156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41848" y="326440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Licenças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BAU, sectoriais, ambiental, DUAT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138928" y="39593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4059936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641848" y="392277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Pontos de atenção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Riscos próprios do projecto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FUNCIONALIDADE 2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 muda com os factos do projecto</a:t>
            </a:r>
            <a:endParaRPr lang="en-US" sz="2400" dirty="0"/>
          </a:p>
        </p:txBody>
      </p:sp>
      <p:sp>
        <p:nvSpPr>
          <p:cNvPr id="4" name="Fact row 1"/>
          <p:cNvSpPr/>
          <p:nvPr/>
        </p:nvSpPr>
        <p:spPr>
          <a:xfrm>
            <a:off x="457200" y="132588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Capital estrangeiro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81328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67712" y="1325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Comparação sociedade vs sucursal</a:t>
            </a:r>
            <a:endParaRPr lang="en-US" sz="1150" dirty="0"/>
          </a:p>
        </p:txBody>
      </p:sp>
      <p:sp>
        <p:nvSpPr>
          <p:cNvPr id="8" name="Fact row 2"/>
          <p:cNvSpPr/>
          <p:nvPr/>
        </p:nvSpPr>
        <p:spPr>
          <a:xfrm>
            <a:off x="457200" y="187452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18745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País do investidor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02996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67712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Taxas da Convenção, ou 20% sem Convenção</a:t>
            </a:r>
            <a:endParaRPr lang="en-US" sz="1150" dirty="0"/>
          </a:p>
        </p:txBody>
      </p:sp>
      <p:sp>
        <p:nvSpPr>
          <p:cNvPr id="12" name="Fact row 3"/>
          <p:cNvSpPr/>
          <p:nvPr/>
        </p:nvSpPr>
        <p:spPr>
          <a:xfrm>
            <a:off x="457200" y="242316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94360" y="2423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Empréstimo do sócio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78608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67712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Registo no BdM, limites USD 5 M / 10 M, rácio 2:1</a:t>
            </a:r>
            <a:endParaRPr lang="en-US" sz="1150" dirty="0"/>
          </a:p>
        </p:txBody>
      </p:sp>
      <p:sp>
        <p:nvSpPr>
          <p:cNvPr id="16" name="Fact row 4"/>
          <p:cNvSpPr/>
          <p:nvPr/>
        </p:nvSpPr>
        <p:spPr>
          <a:xfrm>
            <a:off x="457200" y="297180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594360" y="2971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Pagamentos ao exterior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127248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267712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Retenção de 20%, autoliquidação de IVA, documentos bancários</a:t>
            </a:r>
            <a:endParaRPr lang="en-US" sz="1150" dirty="0"/>
          </a:p>
        </p:txBody>
      </p:sp>
      <p:sp>
        <p:nvSpPr>
          <p:cNvPr id="20" name="Fact row 5"/>
          <p:cNvSpPr/>
          <p:nvPr/>
        </p:nvSpPr>
        <p:spPr>
          <a:xfrm>
            <a:off x="457200" y="352044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9436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Equipamento temporário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675888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2267712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Taxa de utilização, garantia e prazo</a:t>
            </a:r>
            <a:endParaRPr lang="en-US" sz="1150" dirty="0"/>
          </a:p>
        </p:txBody>
      </p:sp>
      <p:sp>
        <p:nvSpPr>
          <p:cNvPr id="24" name="Fact row 6"/>
          <p:cNvSpPr/>
          <p:nvPr/>
        </p:nvSpPr>
        <p:spPr>
          <a:xfrm>
            <a:off x="457200" y="4069080"/>
            <a:ext cx="41148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594360" y="4069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Número de trabalhadores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224528"/>
            <a:ext cx="146304" cy="14630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267712" y="4069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C5C"/>
                </a:solidFill>
              </a:rPr>
              <a:t>Quota de estrangeiros de 5% a 15%</a:t>
            </a:r>
            <a:endParaRPr lang="en-US" sz="1150" dirty="0"/>
          </a:p>
        </p:txBody>
      </p:sp>
      <p:sp>
        <p:nvSpPr>
          <p:cNvPr id="28" name="Screenshot frame"/>
          <p:cNvSpPr/>
          <p:nvPr/>
        </p:nvSpPr>
        <p:spPr>
          <a:xfrm>
            <a:off x="4846320" y="1325880"/>
            <a:ext cx="3840480" cy="2576456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pic>
        <p:nvPicPr>
          <p:cNvPr id="29" name="Screenshot cmp" descr="/tmp/claude-0/-home-claude/7ce77a1c-a38a-5874-896f-bd63390b6b40/scratchpad/deck/cm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325880"/>
            <a:ext cx="3840480" cy="2576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FUNCIONALIDADE 3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fiscais e calendário desde o primeiro dia</a:t>
            </a:r>
            <a:endParaRPr lang="en-US" sz="24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280160"/>
            <a:ext cx="3487201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pic>
        <p:nvPicPr>
          <p:cNvPr id="5" name="Screenshot calinc" descr="/tmp/claude-0/-home-claude/7ce77a1c-a38a-5874-896f-bd63390b6b40/scratchpad/deck/cali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487201" cy="3291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0" y="1325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D8C"/>
                </a:solidFill>
              </a:rPr>
              <a:t>crédito fiscal por investimento, conforme a localização, durante 5 anos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286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D8C"/>
                </a:solidFill>
              </a:rPr>
              <a:t>isenção de direitos e IVA na importação de bens de equipamento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3246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D8C"/>
                </a:solidFill>
              </a:rPr>
              <a:t>obrigações recorrentes identificadas no projecto de exemplo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Prazos que calham a fim-de-semana ou feriado são assinalados para o dia útil anterior.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FUNCIONALIDADE 4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rápidas em dez temas, com a referência legal</a:t>
            </a:r>
            <a:endParaRPr lang="en-US" sz="2400" dirty="0"/>
          </a:p>
        </p:txBody>
      </p:sp>
      <p:sp>
        <p:nvSpPr>
          <p:cNvPr id="4" name="Screenshot frame"/>
          <p:cNvSpPr/>
          <p:nvPr/>
        </p:nvSpPr>
        <p:spPr>
          <a:xfrm>
            <a:off x="457200" y="1280160"/>
            <a:ext cx="5577840" cy="3219490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pic>
        <p:nvPicPr>
          <p:cNvPr id="5" name="Screenshot qa" descr="/tmp/claude-0/-home-claude/7ce77a1c-a38a-5874-896f-bd63390b6b40/scratchpad/deck/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577840" cy="32194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55080" y="132588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Sociedades, licenciamento, investimento, impostos, trabalho, imigração, câmbios, alfândegas, benefícios, obrigações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Perguntas sugeridas por tema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Tem em conta o projecto do utilizador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Termina com quando falar com a firma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FUNCIONALIDADE 5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resposta termina com um caminho até à firma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3441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Pedido com contexto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D8C"/>
                </a:solidFill>
              </a:rPr>
              <a:t>O resumo do projecto e o veículo recomendado seguem com o pedido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3957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514600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368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Caixa privada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D8C"/>
                </a:solidFill>
              </a:rPr>
              <a:t>Pedidos visíveis apenas para o proprietário, dentro da aplicação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3872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33924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Alternativa para qualquer visitante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D8C"/>
                </a:solidFill>
              </a:rPr>
              <a:t>Texto pronto a enviar para info@taxadvisorymoz.com</a:t>
            </a:r>
            <a:endParaRPr lang="en-US" sz="1500" dirty="0"/>
          </a:p>
        </p:txBody>
      </p:sp>
      <p:sp>
        <p:nvSpPr>
          <p:cNvPr id="13" name="Screenshot frame"/>
          <p:cNvSpPr/>
          <p:nvPr/>
        </p:nvSpPr>
        <p:spPr>
          <a:xfrm>
            <a:off x="4023360" y="1325880"/>
            <a:ext cx="4663440" cy="2446261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pic>
        <p:nvPicPr>
          <p:cNvPr id="14" name="Screenshot contact" descr="/tmp/claude-0/-home-claude/7ce77a1c-a38a-5874-896f-bd63390b6b40/scratchpad/deck/conta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1325880"/>
            <a:ext cx="4663440" cy="244626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CONFIANÇA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Assente em legislação verificada, não em suposições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Diplomas que o assistente cita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 1/2022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6916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 8/2023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69164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 8/2024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5856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 41/2026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2258568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225856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 4/2009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258568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225856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 13/2023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82549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 88/2024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0" y="2825496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282549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 11/2009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825496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282549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Avisos GBM/2024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92424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39242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 11/2016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0" y="3392424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28800" y="339242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 9/2017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392424"/>
            <a:ext cx="1261872" cy="438912"/>
          </a:xfrm>
          <a:prstGeom prst="roundRect">
            <a:avLst>
              <a:gd name="adj" fmla="val 10417"/>
            </a:avLst>
          </a:prstGeom>
          <a:solidFill>
            <a:schemeClr val="bg2"/>
          </a:solidFill>
          <a:ln w="6350">
            <a:solidFill>
              <a:srgbClr val="DDE0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00400" y="339242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Dec. 70/2017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32588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435608"/>
            <a:ext cx="182880" cy="1828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394960" y="128930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Responde apenas a partir de uma base revista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Situação em Outubro de 2026, com a reforma fiscal de 2026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4846320" y="2130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240280"/>
            <a:ext cx="182880" cy="18288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394960" y="209397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Sem números inventados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Pontos incertos assinalados “a confirmar”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4846320" y="29352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044952"/>
            <a:ext cx="182880" cy="18288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394960" y="28986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Baseado nos relatórios da firma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Pareceres sobre negócios em Moçambique da Tax Advisory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4846320" y="37398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849624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394960" y="3703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Português profissional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B6D8C"/>
                </a:solidFill>
              </a:rPr>
              <a:t>Ortografia pré-AO90, e inglês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IMPORTÂNCIA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o investidor, para a firma e para Moçambique</a:t>
            </a:r>
            <a:endParaRPr lang="en-US" sz="2400" dirty="0"/>
          </a:p>
        </p:txBody>
      </p:sp>
      <p:sp>
        <p:nvSpPr>
          <p:cNvPr id="4" name="Para o investidor"/>
          <p:cNvSpPr/>
          <p:nvPr/>
        </p:nvSpPr>
        <p:spPr>
          <a:xfrm>
            <a:off x="457200" y="1325880"/>
            <a:ext cx="2615184" cy="320040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 investidor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Um primeiro roteiro em minutos, não semanas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Visão clara de custos, licenças e riscos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Na sua língua, a qualquer hora</a:t>
            </a:r>
            <a:endParaRPr lang="en-US" sz="1250" dirty="0"/>
          </a:p>
        </p:txBody>
      </p:sp>
      <p:sp>
        <p:nvSpPr>
          <p:cNvPr id="9" name="Para a Tax Advisory"/>
          <p:cNvSpPr/>
          <p:nvPr/>
        </p:nvSpPr>
        <p:spPr>
          <a:xfrm>
            <a:off x="3273552" y="1325880"/>
            <a:ext cx="2615184" cy="3200400"/>
          </a:xfrm>
          <a:prstGeom prst="roundRect">
            <a:avLst>
              <a:gd name="adj" fmla="val 2797"/>
            </a:avLst>
          </a:prstGeom>
          <a:solidFill>
            <a:schemeClr val="accent1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152" y="1554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68249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Tax Advisory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02152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Contactos qualificados, com o projecto já descrito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Posiciona a firma como primeira paragem do IDE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Escala o primeiro atendimento sem mais pessoal</a:t>
            </a:r>
            <a:endParaRPr lang="en-US" sz="1250" dirty="0"/>
          </a:p>
        </p:txBody>
      </p:sp>
      <p:sp>
        <p:nvSpPr>
          <p:cNvPr id="14" name="Para Moçambique"/>
          <p:cNvSpPr/>
          <p:nvPr/>
        </p:nvSpPr>
        <p:spPr>
          <a:xfrm>
            <a:off x="6089904" y="1325880"/>
            <a:ext cx="2615184" cy="320040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318504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8249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18504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Moçambique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18504" y="2697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Reduz a barreira de informação ao investimento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Complementa a APIEX e o BAU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38"/>
                </a:solidFill>
              </a:rPr>
              <a:t>Apoia a melhoria do ambiente de negócios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PARCERIA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jurídico e tecnologia</a:t>
            </a:r>
            <a:endParaRPr lang="en-US" sz="2400" dirty="0"/>
          </a:p>
        </p:txBody>
      </p:sp>
      <p:sp>
        <p:nvSpPr>
          <p:cNvPr id="4" name="Tax Advisory"/>
          <p:cNvSpPr/>
          <p:nvPr/>
        </p:nvSpPr>
        <p:spPr>
          <a:xfrm>
            <a:off x="457200" y="132588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640080" cy="640080"/>
          </a:xfrm>
          <a:prstGeom prst="ellipse">
            <a:avLst/>
          </a:prstGeom>
          <a:solidFill>
            <a:srgbClr val="EF2E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Advisory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B6D8C"/>
                </a:solidFill>
              </a:rPr>
              <a:t>Conteúdo jurídico e fiscal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Detém e revê a base legislativa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Responde aos pedidos e executa o trabalho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Marca, relação com o cliente e responsabilidade</a:t>
            </a:r>
            <a:endParaRPr lang="en-US" sz="1300" dirty="0"/>
          </a:p>
        </p:txBody>
      </p:sp>
      <p:sp>
        <p:nvSpPr>
          <p:cNvPr id="9" name="Law Technology Solutions"/>
          <p:cNvSpPr/>
          <p:nvPr/>
        </p:nvSpPr>
        <p:spPr>
          <a:xfrm>
            <a:off x="4663440" y="132588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DE0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265D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72768"/>
            <a:ext cx="640080" cy="640080"/>
          </a:xfrm>
          <a:prstGeom prst="ellipse">
            <a:avLst/>
          </a:prstGeom>
          <a:solidFill>
            <a:srgbClr val="2426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3776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Technology Solutions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B6D8C"/>
                </a:solidFill>
              </a:rPr>
              <a:t>Desenvolvimento tecnológico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688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Desenvolve e aloja a plataforma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Integração de IA, protecção de dados, segurança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B38"/>
                </a:solidFill>
              </a:rPr>
              <a:t>Integra a linha de produtos LTS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Princípio comum: a IA dá o primeiro mapa; o aconselhamento detalhado é sempre validado por um profissional.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ROTEIRO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protótipo ao lançamento público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7772400" cy="0"/>
          </a:xfrm>
          <a:prstGeom prst="line">
            <a:avLst/>
          </a:prstGeom>
          <a:noFill/>
          <a:ln w="19050">
            <a:solidFill>
              <a:srgbClr val="B9B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2"/>
                </a:solidFill>
              </a:rPr>
              <a:t>AGORA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funcional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Enquadramento, perguntas e pedidos completos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PT e 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Demonstrações e testes internos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0048" y="1463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D8C"/>
                </a:solidFill>
              </a:rPr>
              <a:t>FASE 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web pública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517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Servidor próprio sobre a API Claude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Integrado em taxadvisorymoz.com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Pedidos para o CRM e email da firma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1463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D8C"/>
                </a:solidFill>
              </a:rPr>
              <a:t>FASE 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6517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Canal WhatsApp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Mais línguas, p. ex. mandarim e francês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Pacotes sectoriais: minas, energia, agro-negócio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76288" y="1463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6D8C"/>
                </a:solidFill>
              </a:rPr>
              <a:t>FASE 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65176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Parcerias com câmaras de comércio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Versões para a APIEX ou municípios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B38"/>
                </a:solidFill>
              </a:rPr>
              <a:t>Revisão trimestral do conteúdo jurídico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D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CDEA"/>
                </a:solidFill>
              </a:rPr>
              <a:t>PRÓXIMO PASSO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6868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Investir sem barreiras</a:t>
            </a:r>
            <a:endParaRPr lang="en-US" sz="4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331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E6F5"/>
                </a:solidFill>
              </a:rPr>
              <a:t>Próximo passo: aprovar a versão pública da Fase 1 e a revisão trimestral do conteúdo jurídico.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rgbClr val="C9CDEA"/>
                </a:solidFill>
              </a:rPr>
              <a:t>Tax Advisory — Sociedade Unipessoal, Lda  ·  info@taxadvisorymoz.com  ·  Tecnologia: Law Technology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 Moz">
  <a:themeElements>
    <a:clrScheme name="Invest Moz">
      <a:dk1>
        <a:srgbClr val="1A1B38"/>
      </a:dk1>
      <a:lt1>
        <a:srgbClr val="FFFFFF"/>
      </a:lt1>
      <a:dk2>
        <a:srgbClr val="24265D"/>
      </a:dk2>
      <a:lt2>
        <a:srgbClr val="EEF3FB"/>
      </a:lt2>
      <a:accent1>
        <a:srgbClr val="24265D"/>
      </a:accent1>
      <a:accent2>
        <a:srgbClr val="EF2E32"/>
      </a:accent2>
      <a:accent3>
        <a:srgbClr val="4A5BA8"/>
      </a:accent3>
      <a:accent4>
        <a:srgbClr val="8E99C9"/>
      </a:accent4>
      <a:accent5>
        <a:srgbClr val="1E7A4F"/>
      </a:accent5>
      <a:accent6>
        <a:srgbClr val="946000"/>
      </a:accent6>
      <a:hlink>
        <a:srgbClr val="3B4FB0"/>
      </a:hlink>
      <a:folHlink>
        <a:srgbClr val="6B6D8C"/>
      </a:folHlink>
    </a:clrScheme>
    <a:fontScheme name="Invest Mo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Tax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 Moz</dc:title>
  <dc:subject>PptxGenJS Presentation</dc:subject>
  <dc:creator>Tax Advisory — Sociedade Unipessoal, Lda</dc:creator>
  <cp:lastModifiedBy>Tax Advisory — Sociedade Unipessoal, Lda</cp:lastModifiedBy>
  <cp:revision>1</cp:revision>
  <dcterms:created xsi:type="dcterms:W3CDTF">2026-10-10T16:34:08Z</dcterms:created>
  <dcterms:modified xsi:type="dcterms:W3CDTF">2026-10-10T16:34:08Z</dcterms:modified>
</cp:coreProperties>
</file>