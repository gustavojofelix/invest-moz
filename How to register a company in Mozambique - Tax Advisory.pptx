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the guide: eight steps, from name reservation to the formal start of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 process is sequential, each step produces a document the next one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the eight steps. Note that step 4, commercial registration, is what produces the definitive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01 — Name Reservation. Responsible body: Conservatória do Registo das Entidades Legais, or a Balcão de Atendimento Único (BAÚ).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02 — Drafting of the Incorporation Agreement. Responsible body: Prepared with your advisor; executed before a notary.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03 — Opening a Bank Account. Responsible body: Any commercial bank operating in Mozambique.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04 — Commercial Registration. Responsible body: Conservatória do Registo das Entidades Legais.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05 — Tax Registration and Obtaining the NUIT. Responsible body: Autoridade Tributária de Moçambique.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06 — Publication in the Boletim da República. Responsible body: Imprensa Nacional de Moçambique.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07 — Issue of the Commercial Licence. Responsible body: Provincial Directorate of Industry and Commerce, or the Municipal Council.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08 — Start of Activity. Responsible body: Bairro Fiscal (Tax Authority representation) for the company's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client's checklist. Every item is produced by one of the eight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part here before moving to the contact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offer of help and the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gfx/ta_logo_rev.png">    </p:cNvPr>
          <p:cNvPicPr>
            <a:picLocks noChangeAspect="1"/>
          </p:cNvPicPr>
          <p:nvPr/>
        </p:nvPicPr>
        <p:blipFill>
          <a:blip r:embed="rId2"/>
          <a:stretch>
            <a:fillRect/>
          </a:stretch>
        </p:blipFill>
        <p:spPr>
          <a:xfrm>
            <a:off x="868680" y="658368"/>
            <a:ext cx="2331720" cy="1600200"/>
          </a:xfrm>
          <a:prstGeom prst="rect">
            <a:avLst/>
          </a:prstGeom>
        </p:spPr>
      </p:pic>
      <p:sp>
        <p:nvSpPr>
          <p:cNvPr id="3" name="Text 0"/>
          <p:cNvSpPr/>
          <p:nvPr/>
        </p:nvSpPr>
        <p:spPr>
          <a:xfrm>
            <a:off x="868680" y="2697480"/>
            <a:ext cx="7315200" cy="274320"/>
          </a:xfrm>
          <a:prstGeom prst="rect">
            <a:avLst/>
          </a:prstGeom>
          <a:noFill/>
          <a:ln/>
        </p:spPr>
        <p:txBody>
          <a:bodyPr wrap="square" lIns="0" tIns="0" rIns="0" bIns="0" rtlCol="0" anchor="ctr"/>
          <a:lstStyle/>
          <a:p>
            <a:pPr indent="0" marL="0">
              <a:buNone/>
            </a:pPr>
            <a:r>
              <a:rPr lang="en-US" sz="1250" b="1" spc="340" kern="0" dirty="0">
                <a:solidFill>
                  <a:srgbClr val="C6C8E4"/>
                </a:solidFill>
                <a:latin typeface="Calibri" pitchFamily="34" charset="0"/>
                <a:ea typeface="Calibri" pitchFamily="34" charset="-122"/>
                <a:cs typeface="Calibri" pitchFamily="34" charset="-120"/>
              </a:rPr>
              <a:t>PRACTICAL GUIDE   ·   MOZAMBIQUE</a:t>
            </a:r>
            <a:endParaRPr lang="en-US" sz="1250" dirty="0"/>
          </a:p>
        </p:txBody>
      </p:sp>
      <p:sp>
        <p:nvSpPr>
          <p:cNvPr id="4" name="Text 1"/>
          <p:cNvSpPr/>
          <p:nvPr/>
        </p:nvSpPr>
        <p:spPr>
          <a:xfrm>
            <a:off x="868680" y="3063240"/>
            <a:ext cx="8412480" cy="173736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Calibri" pitchFamily="34" charset="0"/>
                <a:ea typeface="Calibri" pitchFamily="34" charset="-122"/>
                <a:cs typeface="Calibri" pitchFamily="34" charset="-120"/>
              </a:rPr>
              <a:t>How to Register a</a:t>
            </a:r>
            <a:endParaRPr lang="en-US" sz="4400" dirty="0"/>
          </a:p>
          <a:p>
            <a:pPr indent="0" marL="0">
              <a:lnSpc>
                <a:spcPct val="108000"/>
              </a:lnSpc>
              <a:buNone/>
            </a:pPr>
            <a:r>
              <a:rPr lang="en-US" sz="4400" b="1" dirty="0">
                <a:solidFill>
                  <a:srgbClr val="FFFFFF"/>
                </a:solidFill>
                <a:latin typeface="Calibri" pitchFamily="34" charset="0"/>
                <a:ea typeface="Calibri" pitchFamily="34" charset="-122"/>
                <a:cs typeface="Calibri" pitchFamily="34" charset="-120"/>
              </a:rPr>
              <a:t>Company in Mozambique</a:t>
            </a:r>
            <a:endParaRPr lang="en-US" sz="4400" dirty="0"/>
          </a:p>
        </p:txBody>
      </p:sp>
      <p:sp>
        <p:nvSpPr>
          <p:cNvPr id="5" name="Text 2"/>
          <p:cNvSpPr/>
          <p:nvPr/>
        </p:nvSpPr>
        <p:spPr>
          <a:xfrm>
            <a:off x="868680" y="4892040"/>
            <a:ext cx="6766560" cy="822960"/>
          </a:xfrm>
          <a:prstGeom prst="rect">
            <a:avLst/>
          </a:prstGeom>
          <a:noFill/>
          <a:ln/>
        </p:spPr>
        <p:txBody>
          <a:bodyPr wrap="square" lIns="0" tIns="0" rIns="0" bIns="0" rtlCol="0" anchor="ctr"/>
          <a:lstStyle/>
          <a:p>
            <a:pPr indent="0" marL="0">
              <a:lnSpc>
                <a:spcPct val="125000"/>
              </a:lnSpc>
              <a:buNone/>
            </a:pPr>
            <a:r>
              <a:rPr lang="en-US" sz="1500" dirty="0">
                <a:solidFill>
                  <a:srgbClr val="C6C8E4"/>
                </a:solidFill>
                <a:latin typeface="Calibri" pitchFamily="34" charset="0"/>
                <a:ea typeface="Calibri" pitchFamily="34" charset="-122"/>
                <a:cs typeface="Calibri" pitchFamily="34" charset="-120"/>
              </a:rPr>
              <a:t>A step-by-step guide to name reservation, incorporation,</a:t>
            </a:r>
            <a:endParaRPr lang="en-US" sz="1500" dirty="0"/>
          </a:p>
          <a:p>
            <a:pPr indent="0" marL="0">
              <a:lnSpc>
                <a:spcPct val="125000"/>
              </a:lnSpc>
              <a:buNone/>
            </a:pPr>
            <a:r>
              <a:rPr lang="en-US" sz="1500" dirty="0">
                <a:solidFill>
                  <a:srgbClr val="C6C8E4"/>
                </a:solidFill>
                <a:latin typeface="Calibri" pitchFamily="34" charset="0"/>
                <a:ea typeface="Calibri" pitchFamily="34" charset="-122"/>
                <a:cs typeface="Calibri" pitchFamily="34" charset="-120"/>
              </a:rPr>
              <a:t>tax registration, publication and licensing.</a:t>
            </a:r>
            <a:endParaRPr lang="en-US" sz="1500" dirty="0"/>
          </a:p>
        </p:txBody>
      </p:sp>
      <p:sp>
        <p:nvSpPr>
          <p:cNvPr id="6" name="Text 3"/>
          <p:cNvSpPr/>
          <p:nvPr/>
        </p:nvSpPr>
        <p:spPr>
          <a:xfrm>
            <a:off x="868680" y="6144768"/>
            <a:ext cx="7772400" cy="274320"/>
          </a:xfrm>
          <a:prstGeom prst="rect">
            <a:avLst/>
          </a:prstGeom>
          <a:noFill/>
          <a:ln/>
        </p:spPr>
        <p:txBody>
          <a:bodyPr wrap="square" lIns="0" tIns="0" rIns="0" bIns="0" rtlCol="0" anchor="ctr"/>
          <a:lstStyle/>
          <a:p>
            <a:pPr indent="0" marL="0">
              <a:buNone/>
            </a:pPr>
            <a:r>
              <a:rPr lang="en-US" sz="1100" dirty="0">
                <a:solidFill>
                  <a:srgbClr val="C6C8E4"/>
                </a:solidFill>
                <a:latin typeface="Calibri" pitchFamily="34" charset="0"/>
                <a:ea typeface="Calibri" pitchFamily="34" charset="-122"/>
                <a:cs typeface="Calibri" pitchFamily="34" charset="-120"/>
              </a:rPr>
              <a:t>Tax Advisory — Sociedade Unipessoal, Lda   ·   Maputo, Mozambique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INTRODUCTION</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Setting up in Mozambique</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02   ·   Tax Advisory</a:t>
            </a:r>
            <a:endParaRPr lang="en-US" sz="950" dirty="0"/>
          </a:p>
        </p:txBody>
      </p:sp>
      <p:sp>
        <p:nvSpPr>
          <p:cNvPr id="6" name="Text 3"/>
          <p:cNvSpPr/>
          <p:nvPr/>
        </p:nvSpPr>
        <p:spPr>
          <a:xfrm>
            <a:off x="777240" y="1691640"/>
            <a:ext cx="6309360" cy="777240"/>
          </a:xfrm>
          <a:prstGeom prst="rect">
            <a:avLst/>
          </a:prstGeom>
          <a:noFill/>
          <a:ln/>
        </p:spPr>
        <p:txBody>
          <a:bodyPr wrap="square" lIns="0" tIns="0" rIns="0" bIns="0" rtlCol="0" anchor="ctr"/>
          <a:lstStyle/>
          <a:p>
            <a:pPr indent="0" marL="0">
              <a:lnSpc>
                <a:spcPct val="125000"/>
              </a:lnSpc>
              <a:buNone/>
            </a:pPr>
            <a:r>
              <a:rPr lang="en-US" sz="1700" dirty="0">
                <a:solidFill>
                  <a:srgbClr val="3A3D80"/>
                </a:solidFill>
                <a:latin typeface="Calibri" pitchFamily="34" charset="0"/>
                <a:ea typeface="Calibri" pitchFamily="34" charset="-122"/>
                <a:cs typeface="Calibri" pitchFamily="34" charset="-120"/>
              </a:rPr>
              <a:t>There are several ways to proceed to register a company in Mozambique — however, all of them require some form of registration.</a:t>
            </a:r>
            <a:endParaRPr lang="en-US" sz="1700" dirty="0"/>
          </a:p>
        </p:txBody>
      </p:sp>
      <p:sp>
        <p:nvSpPr>
          <p:cNvPr id="7" name="Text 4"/>
          <p:cNvSpPr/>
          <p:nvPr/>
        </p:nvSpPr>
        <p:spPr>
          <a:xfrm>
            <a:off x="777240" y="2651760"/>
            <a:ext cx="6309360" cy="2377440"/>
          </a:xfrm>
          <a:prstGeom prst="rect">
            <a:avLst/>
          </a:prstGeom>
          <a:noFill/>
          <a:ln/>
        </p:spPr>
        <p:txBody>
          <a:bodyPr wrap="square" lIns="0" tIns="0" rIns="0" bIns="0" rtlCol="0" anchor="t"/>
          <a:lstStyle/>
          <a:p>
            <a:pPr indent="0" marL="0">
              <a:lnSpc>
                <a:spcPct val="130000"/>
              </a:lnSpc>
              <a:spcAft>
                <a:spcPts val="1200"/>
              </a:spcAft>
              <a:buNone/>
            </a:pPr>
            <a:r>
              <a:rPr lang="en-US" sz="1450" dirty="0">
                <a:solidFill>
                  <a:srgbClr val="33353F"/>
                </a:solidFill>
                <a:latin typeface="Calibri" pitchFamily="34" charset="0"/>
                <a:ea typeface="Calibri" pitchFamily="34" charset="-122"/>
                <a:cs typeface="Calibri" pitchFamily="34" charset="-120"/>
              </a:rPr>
              <a:t>The level of registration and legal liability, in general, depends on factors such as the size of the business — whether small, medium or large — and the number of owners or legal shareholders.</a:t>
            </a:r>
            <a:endParaRPr lang="en-US" sz="1450" dirty="0"/>
          </a:p>
          <a:p>
            <a:pPr indent="0" marL="0">
              <a:lnSpc>
                <a:spcPct val="130000"/>
              </a:lnSpc>
              <a:buNone/>
            </a:pPr>
            <a:r>
              <a:rPr lang="en-US" sz="1450" dirty="0">
                <a:solidFill>
                  <a:srgbClr val="33353F"/>
                </a:solidFill>
                <a:latin typeface="Calibri" pitchFamily="34" charset="0"/>
                <a:ea typeface="Calibri" pitchFamily="34" charset="-122"/>
                <a:cs typeface="Calibri" pitchFamily="34" charset="-120"/>
              </a:rPr>
              <a:t>Although registering a company in Mozambique may seem complicated in some ways, a set of reforms is underway aimed at simplifying several steps and speeding up processes, providing greater accessibility for all entrepreneurs who wish to start a company.</a:t>
            </a:r>
            <a:endParaRPr lang="en-US" sz="1450" dirty="0"/>
          </a:p>
        </p:txBody>
      </p:sp>
      <p:sp>
        <p:nvSpPr>
          <p:cNvPr id="8" name="Shape 5"/>
          <p:cNvSpPr/>
          <p:nvPr/>
        </p:nvSpPr>
        <p:spPr>
          <a:xfrm>
            <a:off x="7635240" y="1691640"/>
            <a:ext cx="3794760" cy="1298448"/>
          </a:xfrm>
          <a:prstGeom prst="roundRect">
            <a:avLst>
              <a:gd name="adj" fmla="val 7746"/>
            </a:avLst>
          </a:prstGeom>
          <a:solidFill>
            <a:srgbClr val="EEEFF7"/>
          </a:solidFill>
          <a:ln w="12700">
            <a:solidFill>
              <a:srgbClr val="EEEFF7"/>
            </a:solidFill>
            <a:prstDash val="solid"/>
          </a:ln>
        </p:spPr>
      </p:sp>
      <p:sp>
        <p:nvSpPr>
          <p:cNvPr id="9" name="Text 6"/>
          <p:cNvSpPr/>
          <p:nvPr/>
        </p:nvSpPr>
        <p:spPr>
          <a:xfrm>
            <a:off x="7882128" y="1874520"/>
            <a:ext cx="777240" cy="868680"/>
          </a:xfrm>
          <a:prstGeom prst="rect">
            <a:avLst/>
          </a:prstGeom>
          <a:noFill/>
          <a:ln/>
        </p:spPr>
        <p:txBody>
          <a:bodyPr wrap="square" lIns="0" tIns="0" rIns="0" bIns="0" rtlCol="0" anchor="ctr"/>
          <a:lstStyle/>
          <a:p>
            <a:pPr indent="0" marL="0">
              <a:buNone/>
            </a:pPr>
            <a:r>
              <a:rPr lang="en-US" sz="4000" b="1" dirty="0">
                <a:solidFill>
                  <a:srgbClr val="EF2E32"/>
                </a:solidFill>
                <a:latin typeface="Calibri" pitchFamily="34" charset="0"/>
                <a:ea typeface="Calibri" pitchFamily="34" charset="-122"/>
                <a:cs typeface="Calibri" pitchFamily="34" charset="-120"/>
              </a:rPr>
              <a:t>8</a:t>
            </a:r>
            <a:endParaRPr lang="en-US" sz="4000" dirty="0"/>
          </a:p>
        </p:txBody>
      </p:sp>
      <p:sp>
        <p:nvSpPr>
          <p:cNvPr id="10" name="Text 7"/>
          <p:cNvSpPr/>
          <p:nvPr/>
        </p:nvSpPr>
        <p:spPr>
          <a:xfrm>
            <a:off x="8686800" y="1947672"/>
            <a:ext cx="2560320" cy="274320"/>
          </a:xfrm>
          <a:prstGeom prst="rect">
            <a:avLst/>
          </a:prstGeom>
          <a:noFill/>
          <a:ln/>
        </p:spPr>
        <p:txBody>
          <a:bodyPr wrap="square" lIns="0" tIns="0" rIns="0" bIns="0" rtlCol="0" anchor="ctr"/>
          <a:lstStyle/>
          <a:p>
            <a:pPr indent="0" marL="0">
              <a:buNone/>
            </a:pPr>
            <a:r>
              <a:rPr lang="en-US" sz="1400" b="1" dirty="0">
                <a:solidFill>
                  <a:srgbClr val="24265D"/>
                </a:solidFill>
                <a:latin typeface="Calibri" pitchFamily="34" charset="0"/>
                <a:ea typeface="Calibri" pitchFamily="34" charset="-122"/>
                <a:cs typeface="Calibri" pitchFamily="34" charset="-120"/>
              </a:rPr>
              <a:t>Steps</a:t>
            </a:r>
            <a:endParaRPr lang="en-US" sz="1400" dirty="0"/>
          </a:p>
        </p:txBody>
      </p:sp>
      <p:sp>
        <p:nvSpPr>
          <p:cNvPr id="11" name="Text 8"/>
          <p:cNvSpPr/>
          <p:nvPr/>
        </p:nvSpPr>
        <p:spPr>
          <a:xfrm>
            <a:off x="8686800" y="2258568"/>
            <a:ext cx="2606040" cy="621792"/>
          </a:xfrm>
          <a:prstGeom prst="rect">
            <a:avLst/>
          </a:prstGeom>
          <a:noFill/>
          <a:ln/>
        </p:spPr>
        <p:txBody>
          <a:bodyPr wrap="square" lIns="0" tIns="0" rIns="0" bIns="0" rtlCol="0" anchor="ctr"/>
          <a:lstStyle/>
          <a:p>
            <a:pPr indent="0" marL="0">
              <a:lnSpc>
                <a:spcPct val="115000"/>
              </a:lnSpc>
              <a:buNone/>
            </a:pPr>
            <a:r>
              <a:rPr lang="en-US" sz="1050" dirty="0">
                <a:solidFill>
                  <a:srgbClr val="6F7288"/>
                </a:solidFill>
                <a:latin typeface="Calibri" pitchFamily="34" charset="0"/>
                <a:ea typeface="Calibri" pitchFamily="34" charset="-122"/>
                <a:cs typeface="Calibri" pitchFamily="34" charset="-120"/>
              </a:rPr>
              <a:t>From name reservation to the formal start of activity.</a:t>
            </a:r>
            <a:endParaRPr lang="en-US" sz="1050" dirty="0"/>
          </a:p>
        </p:txBody>
      </p:sp>
      <p:sp>
        <p:nvSpPr>
          <p:cNvPr id="12" name="Shape 9"/>
          <p:cNvSpPr/>
          <p:nvPr/>
        </p:nvSpPr>
        <p:spPr>
          <a:xfrm>
            <a:off x="7635240" y="3182112"/>
            <a:ext cx="3794760" cy="1298448"/>
          </a:xfrm>
          <a:prstGeom prst="roundRect">
            <a:avLst>
              <a:gd name="adj" fmla="val 7746"/>
            </a:avLst>
          </a:prstGeom>
          <a:solidFill>
            <a:srgbClr val="EEEFF7"/>
          </a:solidFill>
          <a:ln w="12700">
            <a:solidFill>
              <a:srgbClr val="EEEFF7"/>
            </a:solidFill>
            <a:prstDash val="solid"/>
          </a:ln>
        </p:spPr>
      </p:sp>
      <p:sp>
        <p:nvSpPr>
          <p:cNvPr id="13" name="Text 10"/>
          <p:cNvSpPr/>
          <p:nvPr/>
        </p:nvSpPr>
        <p:spPr>
          <a:xfrm>
            <a:off x="7882128" y="3364992"/>
            <a:ext cx="777240" cy="868680"/>
          </a:xfrm>
          <a:prstGeom prst="rect">
            <a:avLst/>
          </a:prstGeom>
          <a:noFill/>
          <a:ln/>
        </p:spPr>
        <p:txBody>
          <a:bodyPr wrap="square" lIns="0" tIns="0" rIns="0" bIns="0" rtlCol="0" anchor="ctr"/>
          <a:lstStyle/>
          <a:p>
            <a:pPr indent="0" marL="0">
              <a:buNone/>
            </a:pPr>
            <a:r>
              <a:rPr lang="en-US" sz="4000" b="1" dirty="0">
                <a:solidFill>
                  <a:srgbClr val="EF2E32"/>
                </a:solidFill>
                <a:latin typeface="Calibri" pitchFamily="34" charset="0"/>
                <a:ea typeface="Calibri" pitchFamily="34" charset="-122"/>
                <a:cs typeface="Calibri" pitchFamily="34" charset="-120"/>
              </a:rPr>
              <a:t>5</a:t>
            </a:r>
            <a:endParaRPr lang="en-US" sz="4000" dirty="0"/>
          </a:p>
        </p:txBody>
      </p:sp>
      <p:sp>
        <p:nvSpPr>
          <p:cNvPr id="14" name="Text 11"/>
          <p:cNvSpPr/>
          <p:nvPr/>
        </p:nvSpPr>
        <p:spPr>
          <a:xfrm>
            <a:off x="8686800" y="3438144"/>
            <a:ext cx="2560320" cy="274320"/>
          </a:xfrm>
          <a:prstGeom prst="rect">
            <a:avLst/>
          </a:prstGeom>
          <a:noFill/>
          <a:ln/>
        </p:spPr>
        <p:txBody>
          <a:bodyPr wrap="square" lIns="0" tIns="0" rIns="0" bIns="0" rtlCol="0" anchor="ctr"/>
          <a:lstStyle/>
          <a:p>
            <a:pPr indent="0" marL="0">
              <a:buNone/>
            </a:pPr>
            <a:r>
              <a:rPr lang="en-US" sz="1400" b="1" dirty="0">
                <a:solidFill>
                  <a:srgbClr val="24265D"/>
                </a:solidFill>
                <a:latin typeface="Calibri" pitchFamily="34" charset="0"/>
                <a:ea typeface="Calibri" pitchFamily="34" charset="-122"/>
                <a:cs typeface="Calibri" pitchFamily="34" charset="-120"/>
              </a:rPr>
              <a:t>Institutions</a:t>
            </a:r>
            <a:endParaRPr lang="en-US" sz="1400" dirty="0"/>
          </a:p>
        </p:txBody>
      </p:sp>
      <p:sp>
        <p:nvSpPr>
          <p:cNvPr id="15" name="Text 12"/>
          <p:cNvSpPr/>
          <p:nvPr/>
        </p:nvSpPr>
        <p:spPr>
          <a:xfrm>
            <a:off x="8686800" y="3749040"/>
            <a:ext cx="2606040" cy="621792"/>
          </a:xfrm>
          <a:prstGeom prst="rect">
            <a:avLst/>
          </a:prstGeom>
          <a:noFill/>
          <a:ln/>
        </p:spPr>
        <p:txBody>
          <a:bodyPr wrap="square" lIns="0" tIns="0" rIns="0" bIns="0" rtlCol="0" anchor="ctr"/>
          <a:lstStyle/>
          <a:p>
            <a:pPr indent="0" marL="0">
              <a:lnSpc>
                <a:spcPct val="115000"/>
              </a:lnSpc>
              <a:buNone/>
            </a:pPr>
            <a:r>
              <a:rPr lang="en-US" sz="1050" dirty="0">
                <a:solidFill>
                  <a:srgbClr val="6F7288"/>
                </a:solidFill>
                <a:latin typeface="Calibri" pitchFamily="34" charset="0"/>
                <a:ea typeface="Calibri" pitchFamily="34" charset="-122"/>
                <a:cs typeface="Calibri" pitchFamily="34" charset="-120"/>
              </a:rPr>
              <a:t>Registry, bank, Tax Authority, Imprensa Nacional and the licensing body.</a:t>
            </a:r>
            <a:endParaRPr lang="en-US" sz="1050" dirty="0"/>
          </a:p>
        </p:txBody>
      </p:sp>
      <p:sp>
        <p:nvSpPr>
          <p:cNvPr id="16" name="Shape 13"/>
          <p:cNvSpPr/>
          <p:nvPr/>
        </p:nvSpPr>
        <p:spPr>
          <a:xfrm>
            <a:off x="7635240" y="4672584"/>
            <a:ext cx="3794760" cy="1298448"/>
          </a:xfrm>
          <a:prstGeom prst="roundRect">
            <a:avLst>
              <a:gd name="adj" fmla="val 7746"/>
            </a:avLst>
          </a:prstGeom>
          <a:solidFill>
            <a:srgbClr val="EEEFF7"/>
          </a:solidFill>
          <a:ln w="12700">
            <a:solidFill>
              <a:srgbClr val="EEEFF7"/>
            </a:solidFill>
            <a:prstDash val="solid"/>
          </a:ln>
        </p:spPr>
      </p:sp>
      <p:sp>
        <p:nvSpPr>
          <p:cNvPr id="17" name="Text 14"/>
          <p:cNvSpPr/>
          <p:nvPr/>
        </p:nvSpPr>
        <p:spPr>
          <a:xfrm>
            <a:off x="7882128" y="4855464"/>
            <a:ext cx="777240" cy="868680"/>
          </a:xfrm>
          <a:prstGeom prst="rect">
            <a:avLst/>
          </a:prstGeom>
          <a:noFill/>
          <a:ln/>
        </p:spPr>
        <p:txBody>
          <a:bodyPr wrap="square" lIns="0" tIns="0" rIns="0" bIns="0" rtlCol="0" anchor="ctr"/>
          <a:lstStyle/>
          <a:p>
            <a:pPr indent="0" marL="0">
              <a:buNone/>
            </a:pPr>
            <a:r>
              <a:rPr lang="en-US" sz="4000" b="1" dirty="0">
                <a:solidFill>
                  <a:srgbClr val="EF2E32"/>
                </a:solidFill>
                <a:latin typeface="Calibri" pitchFamily="34" charset="0"/>
                <a:ea typeface="Calibri" pitchFamily="34" charset="-122"/>
                <a:cs typeface="Calibri" pitchFamily="34" charset="-120"/>
              </a:rPr>
              <a:t>1</a:t>
            </a:r>
            <a:endParaRPr lang="en-US" sz="4000" dirty="0"/>
          </a:p>
        </p:txBody>
      </p:sp>
      <p:sp>
        <p:nvSpPr>
          <p:cNvPr id="18" name="Text 15"/>
          <p:cNvSpPr/>
          <p:nvPr/>
        </p:nvSpPr>
        <p:spPr>
          <a:xfrm>
            <a:off x="8686800" y="4928616"/>
            <a:ext cx="2560320" cy="274320"/>
          </a:xfrm>
          <a:prstGeom prst="rect">
            <a:avLst/>
          </a:prstGeom>
          <a:noFill/>
          <a:ln/>
        </p:spPr>
        <p:txBody>
          <a:bodyPr wrap="square" lIns="0" tIns="0" rIns="0" bIns="0" rtlCol="0" anchor="ctr"/>
          <a:lstStyle/>
          <a:p>
            <a:pPr indent="0" marL="0">
              <a:buNone/>
            </a:pPr>
            <a:r>
              <a:rPr lang="en-US" sz="1400" b="1" dirty="0">
                <a:solidFill>
                  <a:srgbClr val="24265D"/>
                </a:solidFill>
                <a:latin typeface="Calibri" pitchFamily="34" charset="0"/>
                <a:ea typeface="Calibri" pitchFamily="34" charset="-122"/>
                <a:cs typeface="Calibri" pitchFamily="34" charset="-120"/>
              </a:rPr>
              <a:t>Adviser</a:t>
            </a:r>
            <a:endParaRPr lang="en-US" sz="1400" dirty="0"/>
          </a:p>
        </p:txBody>
      </p:sp>
      <p:sp>
        <p:nvSpPr>
          <p:cNvPr id="19" name="Text 16"/>
          <p:cNvSpPr/>
          <p:nvPr/>
        </p:nvSpPr>
        <p:spPr>
          <a:xfrm>
            <a:off x="8686800" y="5239512"/>
            <a:ext cx="2606040" cy="621792"/>
          </a:xfrm>
          <a:prstGeom prst="rect">
            <a:avLst/>
          </a:prstGeom>
          <a:noFill/>
          <a:ln/>
        </p:spPr>
        <p:txBody>
          <a:bodyPr wrap="square" lIns="0" tIns="0" rIns="0" bIns="0" rtlCol="0" anchor="ctr"/>
          <a:lstStyle/>
          <a:p>
            <a:pPr indent="0" marL="0">
              <a:lnSpc>
                <a:spcPct val="115000"/>
              </a:lnSpc>
              <a:buNone/>
            </a:pPr>
            <a:r>
              <a:rPr lang="en-US" sz="1050" dirty="0">
                <a:solidFill>
                  <a:srgbClr val="6F7288"/>
                </a:solidFill>
                <a:latin typeface="Calibri" pitchFamily="34" charset="0"/>
                <a:ea typeface="Calibri" pitchFamily="34" charset="-122"/>
                <a:cs typeface="Calibri" pitchFamily="34" charset="-120"/>
              </a:rPr>
              <a:t>A single point of contact to run the process end to end.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OVERVIEW</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The process at a glance</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03   ·   Tax Advisory</a:t>
            </a:r>
            <a:endParaRPr lang="en-US" sz="950" dirty="0"/>
          </a:p>
        </p:txBody>
      </p:sp>
      <p:sp>
        <p:nvSpPr>
          <p:cNvPr id="6" name="Text 3"/>
          <p:cNvSpPr/>
          <p:nvPr/>
        </p:nvSpPr>
        <p:spPr>
          <a:xfrm>
            <a:off x="777240" y="1426464"/>
            <a:ext cx="9875520" cy="292608"/>
          </a:xfrm>
          <a:prstGeom prst="rect">
            <a:avLst/>
          </a:prstGeom>
          <a:noFill/>
          <a:ln/>
        </p:spPr>
        <p:txBody>
          <a:bodyPr wrap="square" lIns="0" tIns="0" rIns="0" bIns="0" rtlCol="0" anchor="ctr"/>
          <a:lstStyle/>
          <a:p>
            <a:pPr indent="0" marL="0">
              <a:buNone/>
            </a:pPr>
            <a:r>
              <a:rPr lang="en-US" sz="1350" dirty="0">
                <a:solidFill>
                  <a:srgbClr val="6F7288"/>
                </a:solidFill>
                <a:latin typeface="Calibri" pitchFamily="34" charset="0"/>
                <a:ea typeface="Calibri" pitchFamily="34" charset="-122"/>
                <a:cs typeface="Calibri" pitchFamily="34" charset="-120"/>
              </a:rPr>
              <a:t>Each step must generally be completed in order — every one produces a document required by the next.</a:t>
            </a:r>
            <a:endParaRPr lang="en-US" sz="1350" dirty="0"/>
          </a:p>
        </p:txBody>
      </p:sp>
      <p:pic>
        <p:nvPicPr>
          <p:cNvPr id="7" name="Image 1" descr="/home/claude/gfx/flow.png">    </p:cNvPr>
          <p:cNvPicPr>
            <a:picLocks noChangeAspect="1"/>
          </p:cNvPicPr>
          <p:nvPr/>
        </p:nvPicPr>
        <p:blipFill>
          <a:blip r:embed="rId3"/>
          <a:stretch>
            <a:fillRect/>
          </a:stretch>
        </p:blipFill>
        <p:spPr>
          <a:xfrm>
            <a:off x="1569568" y="1874520"/>
            <a:ext cx="9052560" cy="44440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01</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Name Reservation</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04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Conservatória do Registo das Entidades Legais, or a Balcão de Atendimento Único (BAÚ)</a:t>
            </a:r>
            <a:endParaRPr lang="en-US" sz="1050" dirty="0"/>
          </a:p>
        </p:txBody>
      </p:sp>
      <p:pic>
        <p:nvPicPr>
          <p:cNvPr id="7" name="Image 1" descr="/home/claude/gfx/badge_01.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Name reservations are made at the Conservatória do Registo de Pessoas Jurídicas (Legal Entities Registry) or at a Balcão de Atendimento Único (One-Stop Shop). The partners or sole shareholder must present the company, its intended activity and the sector in which it will operate, and state the value of the investment.</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The name must be chosen in advance and checked at the Commercial Registry Office to determine whether the name in question — or one very similar to it — does not already exist. The name will always be followed by an indication of the legal form of the company.</a:t>
            </a:r>
            <a:endParaRPr lang="en-US" sz="1450" dirty="0"/>
          </a:p>
        </p:txBody>
      </p:sp>
      <p:sp>
        <p:nvSpPr>
          <p:cNvPr id="9" name="Shape 5"/>
          <p:cNvSpPr/>
          <p:nvPr/>
        </p:nvSpPr>
        <p:spPr>
          <a:xfrm>
            <a:off x="2606040" y="4224528"/>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4224528"/>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Reserve two or three alternative names — rejections are common and cost you a return trip.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02</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Drafting of the Incorporation Agreement</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05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Prepared with your advisor; executed before a notary</a:t>
            </a:r>
            <a:endParaRPr lang="en-US" sz="1050" dirty="0"/>
          </a:p>
        </p:txBody>
      </p:sp>
      <p:pic>
        <p:nvPicPr>
          <p:cNvPr id="7" name="Image 1" descr="/home/claude/gfx/badge_02.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With the help of an advisor, the articles of association (pacto social) are drawn up, establishing the object of the company — the line of business that the company intends to pursue.</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The same articles contain the names of the partners or the sole partner, with the respective share capital, distributed in quotas if there is more than one partner, or a single quota if there is only one. The registered address, the type of company and the intentions of the future partners also form part of the articles.</a:t>
            </a:r>
            <a:endParaRPr lang="en-US" sz="1450" dirty="0"/>
          </a:p>
        </p:txBody>
      </p:sp>
      <p:sp>
        <p:nvSpPr>
          <p:cNvPr id="9" name="Shape 5"/>
          <p:cNvSpPr/>
          <p:nvPr/>
        </p:nvSpPr>
        <p:spPr>
          <a:xfrm>
            <a:off x="2606040" y="3986784"/>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3986784"/>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The corporate object drives the CAE code and therefore the licensing route — get it right at drafting stage.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03</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Opening a Bank Account</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06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Any commercial bank operating in Mozambique</a:t>
            </a:r>
            <a:endParaRPr lang="en-US" sz="1050" dirty="0"/>
          </a:p>
        </p:txBody>
      </p:sp>
      <p:pic>
        <p:nvPicPr>
          <p:cNvPr id="7" name="Image 1" descr="/home/claude/gfx/badge_03.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One of the phases of company registration in Mozambique is the opening of a bank account for the purpose of depositing the share capital. This requires a certified copy of the certificate of the company name, the company statutes and certified copies of the identification documents of the shareholders.</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When opening the account in the name of the future company, it is important to define the number of authorised signatures that can bind the company for the handling of cheques and transfers.</a:t>
            </a:r>
            <a:endParaRPr lang="en-US" sz="1450" dirty="0"/>
          </a:p>
        </p:txBody>
      </p:sp>
      <p:sp>
        <p:nvSpPr>
          <p:cNvPr id="9" name="Shape 5"/>
          <p:cNvSpPr/>
          <p:nvPr/>
        </p:nvSpPr>
        <p:spPr>
          <a:xfrm>
            <a:off x="2606040" y="4224528"/>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4224528"/>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Decide the signature rules now — changing them later needs a fresh resolution and a new bank instruction.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04</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Commercial Registration</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07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Conservatória do Registo das Entidades Legais</a:t>
            </a:r>
            <a:endParaRPr lang="en-US" sz="1050" dirty="0"/>
          </a:p>
        </p:txBody>
      </p:sp>
      <p:pic>
        <p:nvPicPr>
          <p:cNvPr id="7" name="Image 1" descr="/home/claude/gfx/badge_04.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The articles of association are submitted to the Conservatória for definitive commercial registration. Once the registration is concluded, the Conservatória issues the definitive certificate (certidão) and arranges for the articles to be published.</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These are the documents required for every step that follows — tax registration, publication and licensing all depend on them.</a:t>
            </a:r>
            <a:endParaRPr lang="en-US" sz="1450" dirty="0"/>
          </a:p>
        </p:txBody>
      </p:sp>
      <p:sp>
        <p:nvSpPr>
          <p:cNvPr id="9" name="Shape 5"/>
          <p:cNvSpPr/>
          <p:nvPr/>
        </p:nvSpPr>
        <p:spPr>
          <a:xfrm>
            <a:off x="2606040" y="3749040"/>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3749040"/>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This is the step the original guide omitted; nothing downstream can proceed without the definitive certificate.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05</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Tax Registration and Obtaining the NUIT</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08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Autoridade Tributária de Moçambique</a:t>
            </a:r>
            <a:endParaRPr lang="en-US" sz="1050" dirty="0"/>
          </a:p>
        </p:txBody>
      </p:sp>
      <p:pic>
        <p:nvPicPr>
          <p:cNvPr id="7" name="Image 1" descr="/home/claude/gfx/badge_05.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Once the company is legally registered and the statutes have been published in the Official Gazette by the Conservatória, the company must complete its tax registration and obtain the respective Tax Identification Number (NUIT).</a:t>
            </a:r>
            <a:endParaRPr lang="en-US" sz="1450" dirty="0"/>
          </a:p>
        </p:txBody>
      </p:sp>
      <p:sp>
        <p:nvSpPr>
          <p:cNvPr id="9" name="Shape 5"/>
          <p:cNvSpPr/>
          <p:nvPr/>
        </p:nvSpPr>
        <p:spPr>
          <a:xfrm>
            <a:off x="2606040" y="3611880"/>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3611880"/>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The NUIT is the key that unlocks invoicing, payroll registration and every subsequent tax obligation.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06</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Publication in the Boletim da República</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09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Imprensa Nacional de Moçambique</a:t>
            </a:r>
            <a:endParaRPr lang="en-US" sz="1050" dirty="0"/>
          </a:p>
        </p:txBody>
      </p:sp>
      <p:pic>
        <p:nvPicPr>
          <p:cNvPr id="7" name="Image 1" descr="/home/claude/gfx/badge_06.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After the issuance of the definitive certificate, the statutes must be published in the Boletim da República so that the company's existence becomes public domain.</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This action is only possible upon payment of a fee, which varies according to the number of pages of the articles of association.</a:t>
            </a:r>
            <a:endParaRPr lang="en-US" sz="1450" dirty="0"/>
          </a:p>
        </p:txBody>
      </p:sp>
      <p:sp>
        <p:nvSpPr>
          <p:cNvPr id="9" name="Shape 5"/>
          <p:cNvSpPr/>
          <p:nvPr/>
        </p:nvSpPr>
        <p:spPr>
          <a:xfrm>
            <a:off x="2606040" y="3611880"/>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3611880"/>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Longer articles mean a larger publication fee — worth weighing when drafting.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07</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Issue of the Commercial Licence</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10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Provincial Directorate of Industry and Commerce, or the Municipal Council</a:t>
            </a:r>
            <a:endParaRPr lang="en-US" sz="1050" dirty="0"/>
          </a:p>
        </p:txBody>
      </p:sp>
      <p:pic>
        <p:nvPicPr>
          <p:cNvPr id="7" name="Image 1" descr="/home/claude/gfx/badge_07.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The company must first have completed the incorporation process described above. The request is addressed to the Provincial Governor and submitted to the relevant Provincial Directorate of Industry and Commerce, stating the company name, the address of the registered office and the type of commercial activity, in accordance with the Classification of Economic Activities (CAE).</a:t>
            </a:r>
            <a:endParaRPr lang="en-US" sz="1450" dirty="0"/>
          </a:p>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For companies with commercial points such as stores, bakeries, grocery stores and restaurants, licences must be requested from the municipal council instead. The fee varies according to the line of business.</a:t>
            </a:r>
            <a:endParaRPr lang="en-US" sz="1450" dirty="0"/>
          </a:p>
        </p:txBody>
      </p:sp>
      <p:sp>
        <p:nvSpPr>
          <p:cNvPr id="9" name="Shape 5"/>
          <p:cNvSpPr/>
          <p:nvPr/>
        </p:nvSpPr>
        <p:spPr>
          <a:xfrm>
            <a:off x="2606040" y="4462272"/>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4462272"/>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Regulated sectors — mining, oil and gas, financial services, telecoms — carry additional licensing beyond this.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STEP 08</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Start of Activity</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11   ·   Tax Advisory</a:t>
            </a:r>
            <a:endParaRPr lang="en-US" sz="950" dirty="0"/>
          </a:p>
        </p:txBody>
      </p:sp>
      <p:sp>
        <p:nvSpPr>
          <p:cNvPr id="6" name="Text 3"/>
          <p:cNvSpPr/>
          <p:nvPr/>
        </p:nvSpPr>
        <p:spPr>
          <a:xfrm>
            <a:off x="777240" y="1444752"/>
            <a:ext cx="10424160" cy="292608"/>
          </a:xfrm>
          <a:prstGeom prst="rect">
            <a:avLst/>
          </a:prstGeom>
          <a:noFill/>
          <a:ln/>
        </p:spPr>
        <p:txBody>
          <a:bodyPr wrap="square" lIns="0" tIns="0" rIns="0" bIns="0" rtlCol="0" anchor="ctr"/>
          <a:lstStyle/>
          <a:p>
            <a:pPr indent="0" marL="0">
              <a:buNone/>
            </a:pPr>
            <a:r>
              <a:rPr lang="en-US" sz="1050" b="1" spc="160" kern="0" dirty="0">
                <a:solidFill>
                  <a:srgbClr val="EF2E32"/>
                </a:solidFill>
                <a:latin typeface="Calibri" pitchFamily="34" charset="0"/>
                <a:ea typeface="Calibri" pitchFamily="34" charset="-122"/>
                <a:cs typeface="Calibri" pitchFamily="34" charset="-120"/>
              </a:rPr>
              <a:t>WHERE   </a:t>
            </a:r>
            <a:pPr indent="0" marL="0">
              <a:buNone/>
            </a:pPr>
            <a:r>
              <a:rPr lang="en-US" sz="1300" dirty="0">
                <a:solidFill>
                  <a:srgbClr val="6F7288"/>
                </a:solidFill>
                <a:latin typeface="Calibri" pitchFamily="34" charset="0"/>
                <a:ea typeface="Calibri" pitchFamily="34" charset="-122"/>
                <a:cs typeface="Calibri" pitchFamily="34" charset="-120"/>
              </a:rPr>
              <a:t>Bairro Fiscal (Tax Authority representation) for the company's area</a:t>
            </a:r>
            <a:endParaRPr lang="en-US" sz="1050" dirty="0"/>
          </a:p>
        </p:txBody>
      </p:sp>
      <p:pic>
        <p:nvPicPr>
          <p:cNvPr id="7" name="Image 1" descr="/home/claude/gfx/badge_08.png">    </p:cNvPr>
          <p:cNvPicPr>
            <a:picLocks noChangeAspect="1"/>
          </p:cNvPicPr>
          <p:nvPr/>
        </p:nvPicPr>
        <p:blipFill>
          <a:blip r:embed="rId3"/>
          <a:stretch>
            <a:fillRect/>
          </a:stretch>
        </p:blipFill>
        <p:spPr>
          <a:xfrm>
            <a:off x="777240" y="1965960"/>
            <a:ext cx="1417320" cy="1417320"/>
          </a:xfrm>
          <a:prstGeom prst="rect">
            <a:avLst/>
          </a:prstGeom>
        </p:spPr>
      </p:pic>
      <p:sp>
        <p:nvSpPr>
          <p:cNvPr id="8" name="Text 4"/>
          <p:cNvSpPr/>
          <p:nvPr/>
        </p:nvSpPr>
        <p:spPr>
          <a:xfrm>
            <a:off x="2606040" y="1901952"/>
            <a:ext cx="8778240" cy="2743200"/>
          </a:xfrm>
          <a:prstGeom prst="rect">
            <a:avLst/>
          </a:prstGeom>
          <a:noFill/>
          <a:ln/>
        </p:spPr>
        <p:txBody>
          <a:bodyPr wrap="square" lIns="0" tIns="0" rIns="0" bIns="0" rtlCol="0" anchor="t"/>
          <a:lstStyle/>
          <a:p>
            <a:pPr indent="0" marL="0">
              <a:lnSpc>
                <a:spcPct val="132000"/>
              </a:lnSpc>
              <a:spcAft>
                <a:spcPts val="1200"/>
              </a:spcAft>
              <a:buNone/>
            </a:pPr>
            <a:r>
              <a:rPr lang="en-US" sz="1450" dirty="0">
                <a:solidFill>
                  <a:srgbClr val="33353F"/>
                </a:solidFill>
                <a:latin typeface="Calibri" pitchFamily="34" charset="0"/>
                <a:ea typeface="Calibri" pitchFamily="34" charset="-122"/>
                <a:cs typeface="Calibri" pitchFamily="34" charset="-120"/>
              </a:rPr>
              <a:t>After obtaining all of the documentation mentioned above, go to the Bairro Fiscal of the area where the company is located to fill in the appropriate forms and attach the company's existing documentation, in order to start its activity with the Tax Authority.</a:t>
            </a:r>
            <a:endParaRPr lang="en-US" sz="1450" dirty="0"/>
          </a:p>
        </p:txBody>
      </p:sp>
      <p:sp>
        <p:nvSpPr>
          <p:cNvPr id="9" name="Shape 5"/>
          <p:cNvSpPr/>
          <p:nvPr/>
        </p:nvSpPr>
        <p:spPr>
          <a:xfrm>
            <a:off x="2606040" y="3611880"/>
            <a:ext cx="8778240" cy="932688"/>
          </a:xfrm>
          <a:prstGeom prst="roundRect">
            <a:avLst>
              <a:gd name="adj" fmla="val 10784"/>
            </a:avLst>
          </a:prstGeom>
          <a:solidFill>
            <a:srgbClr val="EEEFF7"/>
          </a:solidFill>
          <a:ln w="12700">
            <a:solidFill>
              <a:srgbClr val="EEEFF7"/>
            </a:solidFill>
            <a:prstDash val="solid"/>
          </a:ln>
        </p:spPr>
      </p:sp>
      <p:sp>
        <p:nvSpPr>
          <p:cNvPr id="10" name="Text 6"/>
          <p:cNvSpPr/>
          <p:nvPr/>
        </p:nvSpPr>
        <p:spPr>
          <a:xfrm>
            <a:off x="2880360" y="3611880"/>
            <a:ext cx="8229600" cy="932688"/>
          </a:xfrm>
          <a:prstGeom prst="rect">
            <a:avLst/>
          </a:prstGeom>
          <a:noFill/>
          <a:ln/>
        </p:spPr>
        <p:txBody>
          <a:bodyPr wrap="square" lIns="0" tIns="0" rIns="0" bIns="0" rtlCol="0" anchor="ctr"/>
          <a:lstStyle/>
          <a:p>
            <a:pPr indent="0" marL="0">
              <a:buNone/>
            </a:pPr>
            <a:r>
              <a:rPr lang="en-US" sz="1000" b="1" spc="160" kern="0" dirty="0">
                <a:solidFill>
                  <a:srgbClr val="EF2E32"/>
                </a:solidFill>
                <a:latin typeface="Calibri" pitchFamily="34" charset="0"/>
                <a:ea typeface="Calibri" pitchFamily="34" charset="-122"/>
                <a:cs typeface="Calibri" pitchFamily="34" charset="-120"/>
              </a:rPr>
              <a:t>IN PRACTICE   </a:t>
            </a:r>
            <a:pPr indent="0" marL="0">
              <a:buNone/>
            </a:pPr>
            <a:r>
              <a:rPr lang="en-US" sz="1250" dirty="0">
                <a:solidFill>
                  <a:srgbClr val="24265D"/>
                </a:solidFill>
                <a:latin typeface="Calibri" pitchFamily="34" charset="0"/>
                <a:ea typeface="Calibri" pitchFamily="34" charset="-122"/>
                <a:cs typeface="Calibri" pitchFamily="34" charset="-120"/>
              </a:rPr>
              <a:t>Only after this declaration is the company operational for tax purposes.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REFERENCE</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Documents you will need</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12   ·   Tax Advisory</a:t>
            </a:r>
            <a:endParaRPr lang="en-US" sz="950" dirty="0"/>
          </a:p>
        </p:txBody>
      </p:sp>
      <p:sp>
        <p:nvSpPr>
          <p:cNvPr id="6" name="Text 3"/>
          <p:cNvSpPr/>
          <p:nvPr/>
        </p:nvSpPr>
        <p:spPr>
          <a:xfrm>
            <a:off x="777240" y="1426464"/>
            <a:ext cx="9875520" cy="274320"/>
          </a:xfrm>
          <a:prstGeom prst="rect">
            <a:avLst/>
          </a:prstGeom>
          <a:noFill/>
          <a:ln/>
        </p:spPr>
        <p:txBody>
          <a:bodyPr wrap="square" lIns="0" tIns="0" rIns="0" bIns="0" rtlCol="0" anchor="ctr"/>
          <a:lstStyle/>
          <a:p>
            <a:pPr indent="0" marL="0">
              <a:buNone/>
            </a:pPr>
            <a:r>
              <a:rPr lang="en-US" sz="1300" dirty="0">
                <a:solidFill>
                  <a:srgbClr val="6F7288"/>
                </a:solidFill>
                <a:latin typeface="Calibri" pitchFamily="34" charset="0"/>
                <a:ea typeface="Calibri" pitchFamily="34" charset="-122"/>
                <a:cs typeface="Calibri" pitchFamily="34" charset="-120"/>
              </a:rPr>
              <a:t>The principal documents generated or required during the process, and where each one comes from.</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874520"/>
          <a:ext cx="10637215" cy="914400"/>
        </p:xfrm>
        <a:graphic>
          <a:graphicData uri="http://schemas.openxmlformats.org/drawingml/2006/table">
            <a:tbl>
              <a:tblPr/>
              <a:tblGrid>
                <a:gridCol w="4846320"/>
                <a:gridCol w="5790895"/>
              </a:tblGrid>
              <a:tr h="429768">
                <a:tc>
                  <a:txBody>
                    <a:bodyPr/>
                    <a:lstStyle/>
                    <a:p>
                      <a:pPr indent="0" marL="0">
                        <a:buNone/>
                      </a:pPr>
                      <a:r>
                        <a:rPr lang="en-US" sz="1100" b="1" spc="160" kern="0" dirty="0">
                          <a:solidFill>
                            <a:srgbClr val="FFFFFF"/>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24265D"/>
                    </a:solidFill>
                  </a:tcPr>
                </a:tc>
                <a:tc>
                  <a:txBody>
                    <a:bodyPr/>
                    <a:lstStyle/>
                    <a:p>
                      <a:pPr indent="0" marL="0">
                        <a:buNone/>
                      </a:pPr>
                      <a:r>
                        <a:rPr lang="en-US" sz="1100" b="1" spc="160" kern="0"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24265D"/>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Name reservation certificate</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Conservatória do Registo das Entidades Legais / BAÚ</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Articles of association (pacto social)</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Drafted with your advisor; executed before a notary</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Certified copies of shareholders' ID documents</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Provided by the shareholders</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Proof of share capital deposit</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Commercial bank</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Definitive commercial registration certificate</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Conservatória do Registo das Entidades Legais</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Publication of the articles</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Boletim da República / Imprensa Nacional</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NUIT (Tax Identification Number)</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Autoridade Tributária de Moçambique</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265D"/>
                          </a:solidFill>
                          <a:latin typeface="Calibri" pitchFamily="34" charset="0"/>
                          <a:ea typeface="Calibri" pitchFamily="34" charset="-122"/>
                          <a:cs typeface="Calibri" pitchFamily="34" charset="-120"/>
                        </a:rPr>
                        <a:t>Commercial licence</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c>
                  <a:txBody>
                    <a:bodyPr/>
                    <a:lstStyle/>
                    <a:p>
                      <a:pPr indent="0" marL="0">
                        <a:buNone/>
                      </a:pPr>
                      <a:r>
                        <a:rPr lang="en-US" sz="1200" dirty="0">
                          <a:solidFill>
                            <a:srgbClr val="33353F"/>
                          </a:solidFill>
                          <a:latin typeface="Calibri" pitchFamily="34" charset="0"/>
                          <a:ea typeface="Calibri" pitchFamily="34" charset="-122"/>
                          <a:cs typeface="Calibri" pitchFamily="34" charset="-120"/>
                        </a:rPr>
                        <a:t>Provincial Directorate of Industry and Commerce, or Municipal Council</a:t>
                      </a:r>
                      <a:endParaRPr lang="en-US" sz="1200" dirty="0">
                        <a:latin typeface="Calibri" charset="0"/>
                        <a:ea typeface="Calibri" charset="0"/>
                        <a:cs typeface="Calibri" charset="0"/>
                      </a:endParaRPr>
                    </a:p>
                  </a:txBody>
                  <a:tcPr marL="127000" marR="127000" marT="50800" marB="50800" anchor="ctr">
                    <a:lnL w="6350" cap="flat" cmpd="sng" algn="ctr">
                      <a:solidFill>
                        <a:srgbClr val="DCDDE9"/>
                      </a:solidFill>
                      <a:prstDash val="solid"/>
                      <a:round/>
                      <a:headEnd type="none" w="med" len="med"/>
                      <a:tailEnd type="none" w="med" len="med"/>
                    </a:lnL>
                    <a:lnR w="6350" cap="flat" cmpd="sng" algn="ctr">
                      <a:solidFill>
                        <a:srgbClr val="DCDDE9"/>
                      </a:solidFill>
                      <a:prstDash val="solid"/>
                      <a:round/>
                      <a:headEnd type="none" w="med" len="med"/>
                      <a:tailEnd type="none" w="med" len="med"/>
                    </a:lnR>
                    <a:lnT w="6350" cap="flat" cmpd="sng" algn="ctr">
                      <a:solidFill>
                        <a:srgbClr val="DCDDE9"/>
                      </a:solidFill>
                      <a:prstDash val="solid"/>
                      <a:round/>
                      <a:headEnd type="none" w="med" len="med"/>
                      <a:tailEnd type="none" w="med" len="med"/>
                    </a:lnT>
                    <a:lnB w="6350" cap="flat" cmpd="sng" algn="ctr">
                      <a:solidFill>
                        <a:srgbClr val="DCDDE9"/>
                      </a:solidFill>
                      <a:prstDash val="solid"/>
                      <a:round/>
                      <a:headEnd type="none" w="med" len="med"/>
                      <a:tailEnd type="none" w="med" len="med"/>
                    </a:lnB>
                    <a:solidFill>
                      <a:srgbClr val="F6F7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384048"/>
            <a:ext cx="8686800" cy="256032"/>
          </a:xfrm>
          <a:prstGeom prst="rect">
            <a:avLst/>
          </a:prstGeom>
          <a:noFill/>
          <a:ln/>
        </p:spPr>
        <p:txBody>
          <a:bodyPr wrap="square" lIns="0" tIns="0" rIns="0" bIns="0" rtlCol="0" anchor="ctr"/>
          <a:lstStyle/>
          <a:p>
            <a:pPr indent="0" marL="0">
              <a:buNone/>
            </a:pPr>
            <a:r>
              <a:rPr lang="en-US" sz="1150" b="1" spc="260" kern="0" dirty="0">
                <a:solidFill>
                  <a:srgbClr val="EF2E32"/>
                </a:solidFill>
                <a:latin typeface="Calibri" pitchFamily="34" charset="0"/>
                <a:ea typeface="Calibri" pitchFamily="34" charset="-122"/>
                <a:cs typeface="Calibri" pitchFamily="34" charset="-120"/>
              </a:rPr>
              <a:t>REFERENCE</a:t>
            </a:r>
            <a:endParaRPr lang="en-US" sz="1150" dirty="0"/>
          </a:p>
        </p:txBody>
      </p:sp>
      <p:sp>
        <p:nvSpPr>
          <p:cNvPr id="3" name="Text 1"/>
          <p:cNvSpPr/>
          <p:nvPr/>
        </p:nvSpPr>
        <p:spPr>
          <a:xfrm>
            <a:off x="777240" y="676656"/>
            <a:ext cx="9692640" cy="658368"/>
          </a:xfrm>
          <a:prstGeom prst="rect">
            <a:avLst/>
          </a:prstGeom>
          <a:noFill/>
          <a:ln/>
        </p:spPr>
        <p:txBody>
          <a:bodyPr wrap="square" lIns="0" tIns="0" rIns="0" bIns="0" rtlCol="0" anchor="ctr"/>
          <a:lstStyle/>
          <a:p>
            <a:pPr indent="0" marL="0">
              <a:buNone/>
            </a:pPr>
            <a:r>
              <a:rPr lang="en-US" sz="3200" b="1" dirty="0">
                <a:solidFill>
                  <a:srgbClr val="24265D"/>
                </a:solidFill>
                <a:latin typeface="Calibri" pitchFamily="34" charset="0"/>
                <a:ea typeface="Calibri" pitchFamily="34" charset="-122"/>
                <a:cs typeface="Calibri" pitchFamily="34" charset="-120"/>
              </a:rPr>
              <a:t>Practical notes</a:t>
            </a:r>
            <a:endParaRPr lang="en-US" sz="3200" dirty="0"/>
          </a:p>
        </p:txBody>
      </p:sp>
      <p:pic>
        <p:nvPicPr>
          <p:cNvPr id="4" name="Image 0" descr="/home/claude/gfx/ta_logo.png">    </p:cNvPr>
          <p:cNvPicPr>
            <a:picLocks noChangeAspect="1"/>
          </p:cNvPicPr>
          <p:nvPr/>
        </p:nvPicPr>
        <p:blipFill>
          <a:blip r:embed="rId2"/>
          <a:stretch>
            <a:fillRect/>
          </a:stretch>
        </p:blipFill>
        <p:spPr>
          <a:xfrm>
            <a:off x="10991088" y="6108192"/>
            <a:ext cx="768096" cy="527609"/>
          </a:xfrm>
          <a:prstGeom prst="rect">
            <a:avLst/>
          </a:prstGeom>
        </p:spPr>
      </p:pic>
      <p:sp>
        <p:nvSpPr>
          <p:cNvPr id="5" name="Text 2"/>
          <p:cNvSpPr/>
          <p:nvPr/>
        </p:nvSpPr>
        <p:spPr>
          <a:xfrm>
            <a:off x="777240" y="6345936"/>
            <a:ext cx="5486400" cy="256032"/>
          </a:xfrm>
          <a:prstGeom prst="rect">
            <a:avLst/>
          </a:prstGeom>
          <a:noFill/>
          <a:ln/>
        </p:spPr>
        <p:txBody>
          <a:bodyPr wrap="square" lIns="0" tIns="0" rIns="0" bIns="0" rtlCol="0" anchor="ctr"/>
          <a:lstStyle/>
          <a:p>
            <a:pPr indent="0" marL="0">
              <a:buNone/>
            </a:pPr>
            <a:r>
              <a:rPr lang="en-US" sz="950" spc="80" kern="0" dirty="0">
                <a:solidFill>
                  <a:srgbClr val="6F7288"/>
                </a:solidFill>
                <a:latin typeface="Calibri" pitchFamily="34" charset="0"/>
                <a:ea typeface="Calibri" pitchFamily="34" charset="-122"/>
                <a:cs typeface="Calibri" pitchFamily="34" charset="-120"/>
              </a:rPr>
              <a:t>13   ·   Tax Advisory</a:t>
            </a:r>
            <a:endParaRPr lang="en-US" sz="950" dirty="0"/>
          </a:p>
        </p:txBody>
      </p:sp>
      <p:sp>
        <p:nvSpPr>
          <p:cNvPr id="6" name="Text 3"/>
          <p:cNvSpPr/>
          <p:nvPr/>
        </p:nvSpPr>
        <p:spPr>
          <a:xfrm>
            <a:off x="777240" y="1426464"/>
            <a:ext cx="9875520" cy="274320"/>
          </a:xfrm>
          <a:prstGeom prst="rect">
            <a:avLst/>
          </a:prstGeom>
          <a:noFill/>
          <a:ln/>
        </p:spPr>
        <p:txBody>
          <a:bodyPr wrap="square" lIns="0" tIns="0" rIns="0" bIns="0" rtlCol="0" anchor="ctr"/>
          <a:lstStyle/>
          <a:p>
            <a:pPr indent="0" marL="0">
              <a:buNone/>
            </a:pPr>
            <a:r>
              <a:rPr lang="en-US" sz="1300" dirty="0">
                <a:solidFill>
                  <a:srgbClr val="6F7288"/>
                </a:solidFill>
                <a:latin typeface="Calibri" pitchFamily="34" charset="0"/>
                <a:ea typeface="Calibri" pitchFamily="34" charset="-122"/>
                <a:cs typeface="Calibri" pitchFamily="34" charset="-120"/>
              </a:rPr>
              <a:t>Three points that most often catch first-time investors out.</a:t>
            </a:r>
            <a:endParaRPr lang="en-US" sz="1300" dirty="0"/>
          </a:p>
        </p:txBody>
      </p:sp>
      <p:sp>
        <p:nvSpPr>
          <p:cNvPr id="7" name="Shape 4"/>
          <p:cNvSpPr/>
          <p:nvPr/>
        </p:nvSpPr>
        <p:spPr>
          <a:xfrm>
            <a:off x="777240" y="1938528"/>
            <a:ext cx="3337560" cy="3703320"/>
          </a:xfrm>
          <a:prstGeom prst="roundRect">
            <a:avLst>
              <a:gd name="adj" fmla="val 3014"/>
            </a:avLst>
          </a:prstGeom>
          <a:solidFill>
            <a:srgbClr val="EEEFF7"/>
          </a:solidFill>
          <a:ln w="12700">
            <a:solidFill>
              <a:srgbClr val="EEEFF7"/>
            </a:solidFill>
            <a:prstDash val="solid"/>
          </a:ln>
        </p:spPr>
      </p:sp>
      <p:pic>
        <p:nvPicPr>
          <p:cNvPr id="8" name="Image 1" descr="/home/claude/gfx/tile_fee.png">    </p:cNvPr>
          <p:cNvPicPr>
            <a:picLocks noChangeAspect="1"/>
          </p:cNvPicPr>
          <p:nvPr/>
        </p:nvPicPr>
        <p:blipFill>
          <a:blip r:embed="rId3"/>
          <a:stretch>
            <a:fillRect/>
          </a:stretch>
        </p:blipFill>
        <p:spPr>
          <a:xfrm>
            <a:off x="1069848" y="2240280"/>
            <a:ext cx="841248" cy="841248"/>
          </a:xfrm>
          <a:prstGeom prst="rect">
            <a:avLst/>
          </a:prstGeom>
        </p:spPr>
      </p:pic>
      <p:sp>
        <p:nvSpPr>
          <p:cNvPr id="9" name="Text 5"/>
          <p:cNvSpPr/>
          <p:nvPr/>
        </p:nvSpPr>
        <p:spPr>
          <a:xfrm>
            <a:off x="1069848" y="3218688"/>
            <a:ext cx="2788920" cy="457200"/>
          </a:xfrm>
          <a:prstGeom prst="rect">
            <a:avLst/>
          </a:prstGeom>
          <a:noFill/>
          <a:ln/>
        </p:spPr>
        <p:txBody>
          <a:bodyPr wrap="square" lIns="0" tIns="0" rIns="0" bIns="0" rtlCol="0" anchor="t"/>
          <a:lstStyle/>
          <a:p>
            <a:pPr indent="0" marL="0">
              <a:buNone/>
            </a:pPr>
            <a:r>
              <a:rPr lang="en-US" sz="1600" b="1" dirty="0">
                <a:solidFill>
                  <a:srgbClr val="24265D"/>
                </a:solidFill>
                <a:latin typeface="Calibri" pitchFamily="34" charset="0"/>
                <a:ea typeface="Calibri" pitchFamily="34" charset="-122"/>
                <a:cs typeface="Calibri" pitchFamily="34" charset="-120"/>
              </a:rPr>
              <a:t>Fees are not fixed</a:t>
            </a:r>
            <a:endParaRPr lang="en-US" sz="1600" dirty="0"/>
          </a:p>
        </p:txBody>
      </p:sp>
      <p:sp>
        <p:nvSpPr>
          <p:cNvPr id="10" name="Text 6"/>
          <p:cNvSpPr/>
          <p:nvPr/>
        </p:nvSpPr>
        <p:spPr>
          <a:xfrm>
            <a:off x="1069848" y="3712464"/>
            <a:ext cx="2788920" cy="1737360"/>
          </a:xfrm>
          <a:prstGeom prst="rect">
            <a:avLst/>
          </a:prstGeom>
          <a:noFill/>
          <a:ln/>
        </p:spPr>
        <p:txBody>
          <a:bodyPr wrap="square" lIns="0" tIns="0" rIns="0" bIns="0" rtlCol="0" anchor="t"/>
          <a:lstStyle/>
          <a:p>
            <a:pPr indent="0" marL="0">
              <a:lnSpc>
                <a:spcPct val="128000"/>
              </a:lnSpc>
              <a:buNone/>
            </a:pPr>
            <a:r>
              <a:rPr lang="en-US" sz="1200" dirty="0">
                <a:solidFill>
                  <a:srgbClr val="33353F"/>
                </a:solidFill>
                <a:latin typeface="Calibri" pitchFamily="34" charset="0"/>
                <a:ea typeface="Calibri" pitchFamily="34" charset="-122"/>
                <a:cs typeface="Calibri" pitchFamily="34" charset="-120"/>
              </a:rPr>
              <a:t>The Boletim da República publication fee varies with the number of pages of the articles, and the commercial licence fee varies according to the line of business. Budget for both once the articles are final.</a:t>
            </a:r>
            <a:endParaRPr lang="en-US" sz="1200" dirty="0"/>
          </a:p>
        </p:txBody>
      </p:sp>
      <p:sp>
        <p:nvSpPr>
          <p:cNvPr id="11" name="Shape 7"/>
          <p:cNvSpPr/>
          <p:nvPr/>
        </p:nvSpPr>
        <p:spPr>
          <a:xfrm>
            <a:off x="4434840" y="1938528"/>
            <a:ext cx="3337560" cy="3703320"/>
          </a:xfrm>
          <a:prstGeom prst="roundRect">
            <a:avLst>
              <a:gd name="adj" fmla="val 3014"/>
            </a:avLst>
          </a:prstGeom>
          <a:solidFill>
            <a:srgbClr val="EEEFF7"/>
          </a:solidFill>
          <a:ln w="12700">
            <a:solidFill>
              <a:srgbClr val="EEEFF7"/>
            </a:solidFill>
            <a:prstDash val="solid"/>
          </a:ln>
        </p:spPr>
      </p:sp>
      <p:pic>
        <p:nvPicPr>
          <p:cNvPr id="12" name="Image 2" descr="/home/claude/gfx/tile_bank.png">    </p:cNvPr>
          <p:cNvPicPr>
            <a:picLocks noChangeAspect="1"/>
          </p:cNvPicPr>
          <p:nvPr/>
        </p:nvPicPr>
        <p:blipFill>
          <a:blip r:embed="rId4"/>
          <a:stretch>
            <a:fillRect/>
          </a:stretch>
        </p:blipFill>
        <p:spPr>
          <a:xfrm>
            <a:off x="4727448" y="2240280"/>
            <a:ext cx="841248" cy="841248"/>
          </a:xfrm>
          <a:prstGeom prst="rect">
            <a:avLst/>
          </a:prstGeom>
        </p:spPr>
      </p:pic>
      <p:sp>
        <p:nvSpPr>
          <p:cNvPr id="13" name="Text 8"/>
          <p:cNvSpPr/>
          <p:nvPr/>
        </p:nvSpPr>
        <p:spPr>
          <a:xfrm>
            <a:off x="4727448" y="3218688"/>
            <a:ext cx="2788920" cy="457200"/>
          </a:xfrm>
          <a:prstGeom prst="rect">
            <a:avLst/>
          </a:prstGeom>
          <a:noFill/>
          <a:ln/>
        </p:spPr>
        <p:txBody>
          <a:bodyPr wrap="square" lIns="0" tIns="0" rIns="0" bIns="0" rtlCol="0" anchor="t"/>
          <a:lstStyle/>
          <a:p>
            <a:pPr indent="0" marL="0">
              <a:buNone/>
            </a:pPr>
            <a:r>
              <a:rPr lang="en-US" sz="1600" b="1" dirty="0">
                <a:solidFill>
                  <a:srgbClr val="24265D"/>
                </a:solidFill>
                <a:latin typeface="Calibri" pitchFamily="34" charset="0"/>
                <a:ea typeface="Calibri" pitchFamily="34" charset="-122"/>
                <a:cs typeface="Calibri" pitchFamily="34" charset="-120"/>
              </a:rPr>
              <a:t>Decide your signatories early</a:t>
            </a:r>
            <a:endParaRPr lang="en-US" sz="1600" dirty="0"/>
          </a:p>
        </p:txBody>
      </p:sp>
      <p:sp>
        <p:nvSpPr>
          <p:cNvPr id="14" name="Text 9"/>
          <p:cNvSpPr/>
          <p:nvPr/>
        </p:nvSpPr>
        <p:spPr>
          <a:xfrm>
            <a:off x="4727448" y="3712464"/>
            <a:ext cx="2788920" cy="1737360"/>
          </a:xfrm>
          <a:prstGeom prst="rect">
            <a:avLst/>
          </a:prstGeom>
          <a:noFill/>
          <a:ln/>
        </p:spPr>
        <p:txBody>
          <a:bodyPr wrap="square" lIns="0" tIns="0" rIns="0" bIns="0" rtlCol="0" anchor="t"/>
          <a:lstStyle/>
          <a:p>
            <a:pPr indent="0" marL="0">
              <a:lnSpc>
                <a:spcPct val="128000"/>
              </a:lnSpc>
              <a:buNone/>
            </a:pPr>
            <a:r>
              <a:rPr lang="en-US" sz="1200" dirty="0">
                <a:solidFill>
                  <a:srgbClr val="33353F"/>
                </a:solidFill>
                <a:latin typeface="Calibri" pitchFamily="34" charset="0"/>
                <a:ea typeface="Calibri" pitchFamily="34" charset="-122"/>
                <a:cs typeface="Calibri" pitchFamily="34" charset="-120"/>
              </a:rPr>
              <a:t>When the share capital account is opened, the number of authorised signatures required to bind the company must be defined. Changing this later means a further resolution and a fresh instruction to the bank.</a:t>
            </a:r>
            <a:endParaRPr lang="en-US" sz="1200" dirty="0"/>
          </a:p>
        </p:txBody>
      </p:sp>
      <p:sp>
        <p:nvSpPr>
          <p:cNvPr id="15" name="Shape 10"/>
          <p:cNvSpPr/>
          <p:nvPr/>
        </p:nvSpPr>
        <p:spPr>
          <a:xfrm>
            <a:off x="8092440" y="1938528"/>
            <a:ext cx="3337560" cy="3703320"/>
          </a:xfrm>
          <a:prstGeom prst="roundRect">
            <a:avLst>
              <a:gd name="adj" fmla="val 3014"/>
            </a:avLst>
          </a:prstGeom>
          <a:solidFill>
            <a:srgbClr val="EEEFF7"/>
          </a:solidFill>
          <a:ln w="12700">
            <a:solidFill>
              <a:srgbClr val="EEEFF7"/>
            </a:solidFill>
            <a:prstDash val="solid"/>
          </a:ln>
        </p:spPr>
      </p:sp>
      <p:pic>
        <p:nvPicPr>
          <p:cNvPr id="16" name="Image 3" descr="/home/claude/gfx/tile_licence.png">    </p:cNvPr>
          <p:cNvPicPr>
            <a:picLocks noChangeAspect="1"/>
          </p:cNvPicPr>
          <p:nvPr/>
        </p:nvPicPr>
        <p:blipFill>
          <a:blip r:embed="rId5"/>
          <a:stretch>
            <a:fillRect/>
          </a:stretch>
        </p:blipFill>
        <p:spPr>
          <a:xfrm>
            <a:off x="8385048" y="2240280"/>
            <a:ext cx="841248" cy="841248"/>
          </a:xfrm>
          <a:prstGeom prst="rect">
            <a:avLst/>
          </a:prstGeom>
        </p:spPr>
      </p:pic>
      <p:sp>
        <p:nvSpPr>
          <p:cNvPr id="17" name="Text 11"/>
          <p:cNvSpPr/>
          <p:nvPr/>
        </p:nvSpPr>
        <p:spPr>
          <a:xfrm>
            <a:off x="8385048" y="3218688"/>
            <a:ext cx="2788920" cy="457200"/>
          </a:xfrm>
          <a:prstGeom prst="rect">
            <a:avLst/>
          </a:prstGeom>
          <a:noFill/>
          <a:ln/>
        </p:spPr>
        <p:txBody>
          <a:bodyPr wrap="square" lIns="0" tIns="0" rIns="0" bIns="0" rtlCol="0" anchor="t"/>
          <a:lstStyle/>
          <a:p>
            <a:pPr indent="0" marL="0">
              <a:buNone/>
            </a:pPr>
            <a:r>
              <a:rPr lang="en-US" sz="1600" b="1" dirty="0">
                <a:solidFill>
                  <a:srgbClr val="24265D"/>
                </a:solidFill>
                <a:latin typeface="Calibri" pitchFamily="34" charset="0"/>
                <a:ea typeface="Calibri" pitchFamily="34" charset="-122"/>
                <a:cs typeface="Calibri" pitchFamily="34" charset="-120"/>
              </a:rPr>
              <a:t>Premises are licensed locally</a:t>
            </a:r>
            <a:endParaRPr lang="en-US" sz="1600" dirty="0"/>
          </a:p>
        </p:txBody>
      </p:sp>
      <p:sp>
        <p:nvSpPr>
          <p:cNvPr id="18" name="Text 12"/>
          <p:cNvSpPr/>
          <p:nvPr/>
        </p:nvSpPr>
        <p:spPr>
          <a:xfrm>
            <a:off x="8385048" y="3712464"/>
            <a:ext cx="2788920" cy="1737360"/>
          </a:xfrm>
          <a:prstGeom prst="rect">
            <a:avLst/>
          </a:prstGeom>
          <a:noFill/>
          <a:ln/>
        </p:spPr>
        <p:txBody>
          <a:bodyPr wrap="square" lIns="0" tIns="0" rIns="0" bIns="0" rtlCol="0" anchor="t"/>
          <a:lstStyle/>
          <a:p>
            <a:pPr indent="0" marL="0">
              <a:lnSpc>
                <a:spcPct val="128000"/>
              </a:lnSpc>
              <a:buNone/>
            </a:pPr>
            <a:r>
              <a:rPr lang="en-US" sz="1200" dirty="0">
                <a:solidFill>
                  <a:srgbClr val="33353F"/>
                </a:solidFill>
                <a:latin typeface="Calibri" pitchFamily="34" charset="0"/>
                <a:ea typeface="Calibri" pitchFamily="34" charset="-122"/>
                <a:cs typeface="Calibri" pitchFamily="34" charset="-120"/>
              </a:rPr>
              <a:t>Businesses with a physical commercial point — shops, bakeries, grocery stores and restaurants — are licensed by the municipal council rather than the Provincial Directorate of Industry and Commerce.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gfx/ta_logo_rev.png">    </p:cNvPr>
          <p:cNvPicPr>
            <a:picLocks noChangeAspect="1"/>
          </p:cNvPicPr>
          <p:nvPr/>
        </p:nvPicPr>
        <p:blipFill>
          <a:blip r:embed="rId2"/>
          <a:stretch>
            <a:fillRect/>
          </a:stretch>
        </p:blipFill>
        <p:spPr>
          <a:xfrm>
            <a:off x="868680" y="777240"/>
            <a:ext cx="2148840" cy="1472184"/>
          </a:xfrm>
          <a:prstGeom prst="rect">
            <a:avLst/>
          </a:prstGeom>
        </p:spPr>
      </p:pic>
      <p:sp>
        <p:nvSpPr>
          <p:cNvPr id="3" name="Text 0"/>
          <p:cNvSpPr/>
          <p:nvPr/>
        </p:nvSpPr>
        <p:spPr>
          <a:xfrm>
            <a:off x="868680" y="2606040"/>
            <a:ext cx="786384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Let us take care of the process.</a:t>
            </a:r>
            <a:endParaRPr lang="en-US" sz="3600" dirty="0"/>
          </a:p>
        </p:txBody>
      </p:sp>
      <p:sp>
        <p:nvSpPr>
          <p:cNvPr id="4" name="Text 1"/>
          <p:cNvSpPr/>
          <p:nvPr/>
        </p:nvSpPr>
        <p:spPr>
          <a:xfrm>
            <a:off x="868680" y="3383280"/>
            <a:ext cx="6949440" cy="1280160"/>
          </a:xfrm>
          <a:prstGeom prst="rect">
            <a:avLst/>
          </a:prstGeom>
          <a:noFill/>
          <a:ln/>
        </p:spPr>
        <p:txBody>
          <a:bodyPr wrap="square" lIns="0" tIns="0" rIns="0" bIns="0" rtlCol="0" anchor="ctr"/>
          <a:lstStyle/>
          <a:p>
            <a:pPr indent="0" marL="0">
              <a:lnSpc>
                <a:spcPct val="135000"/>
              </a:lnSpc>
              <a:buNone/>
            </a:pPr>
            <a:r>
              <a:rPr lang="en-US" sz="1400" dirty="0">
                <a:solidFill>
                  <a:srgbClr val="C6C8E4"/>
                </a:solidFill>
                <a:latin typeface="Calibri" pitchFamily="34" charset="0"/>
                <a:ea typeface="Calibri" pitchFamily="34" charset="-122"/>
                <a:cs typeface="Calibri" pitchFamily="34" charset="-120"/>
              </a:rPr>
              <a:t>Tax Advisory assists domestic and international investors through every stage of establishing and maintaining a presence in Mozambique — from name reservation and incorporation to tax registration, licensing and ongoing compliance.</a:t>
            </a:r>
            <a:endParaRPr lang="en-US" sz="1400" dirty="0"/>
          </a:p>
        </p:txBody>
      </p:sp>
      <p:sp>
        <p:nvSpPr>
          <p:cNvPr id="5" name="Text 2"/>
          <p:cNvSpPr/>
          <p:nvPr/>
        </p:nvSpPr>
        <p:spPr>
          <a:xfrm>
            <a:off x="868680" y="4800600"/>
            <a:ext cx="1371600" cy="274320"/>
          </a:xfrm>
          <a:prstGeom prst="rect">
            <a:avLst/>
          </a:prstGeom>
          <a:noFill/>
          <a:ln/>
        </p:spPr>
        <p:txBody>
          <a:bodyPr wrap="square" lIns="0" tIns="0" rIns="0" bIns="0" rtlCol="0" anchor="ctr"/>
          <a:lstStyle/>
          <a:p>
            <a:pPr indent="0" marL="0">
              <a:buNone/>
            </a:pPr>
            <a:r>
              <a:rPr lang="en-US" sz="1000" b="1" spc="180" kern="0" dirty="0">
                <a:solidFill>
                  <a:srgbClr val="8A8DC0"/>
                </a:solidFill>
                <a:latin typeface="Calibri" pitchFamily="34" charset="0"/>
                <a:ea typeface="Calibri" pitchFamily="34" charset="-122"/>
                <a:cs typeface="Calibri" pitchFamily="34" charset="-120"/>
              </a:rPr>
              <a:t>ADDRESS</a:t>
            </a:r>
            <a:endParaRPr lang="en-US" sz="1000" dirty="0"/>
          </a:p>
        </p:txBody>
      </p:sp>
      <p:sp>
        <p:nvSpPr>
          <p:cNvPr id="6" name="Text 3"/>
          <p:cNvSpPr/>
          <p:nvPr/>
        </p:nvSpPr>
        <p:spPr>
          <a:xfrm>
            <a:off x="2286000" y="4800600"/>
            <a:ext cx="56692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street address ]  ·  Maputo, Mozambique</a:t>
            </a:r>
            <a:endParaRPr lang="en-US" sz="1250" dirty="0"/>
          </a:p>
        </p:txBody>
      </p:sp>
      <p:sp>
        <p:nvSpPr>
          <p:cNvPr id="7" name="Text 4"/>
          <p:cNvSpPr/>
          <p:nvPr/>
        </p:nvSpPr>
        <p:spPr>
          <a:xfrm>
            <a:off x="868680" y="5184648"/>
            <a:ext cx="1371600" cy="274320"/>
          </a:xfrm>
          <a:prstGeom prst="rect">
            <a:avLst/>
          </a:prstGeom>
          <a:noFill/>
          <a:ln/>
        </p:spPr>
        <p:txBody>
          <a:bodyPr wrap="square" lIns="0" tIns="0" rIns="0" bIns="0" rtlCol="0" anchor="ctr"/>
          <a:lstStyle/>
          <a:p>
            <a:pPr indent="0" marL="0">
              <a:buNone/>
            </a:pPr>
            <a:r>
              <a:rPr lang="en-US" sz="1000" b="1" spc="180" kern="0" dirty="0">
                <a:solidFill>
                  <a:srgbClr val="8A8DC0"/>
                </a:solidFill>
                <a:latin typeface="Calibri" pitchFamily="34" charset="0"/>
                <a:ea typeface="Calibri" pitchFamily="34" charset="-122"/>
                <a:cs typeface="Calibri" pitchFamily="34" charset="-120"/>
              </a:rPr>
              <a:t>TELEPHONE</a:t>
            </a:r>
            <a:endParaRPr lang="en-US" sz="1000" dirty="0"/>
          </a:p>
        </p:txBody>
      </p:sp>
      <p:sp>
        <p:nvSpPr>
          <p:cNvPr id="8" name="Text 5"/>
          <p:cNvSpPr/>
          <p:nvPr/>
        </p:nvSpPr>
        <p:spPr>
          <a:xfrm>
            <a:off x="2286000" y="5184648"/>
            <a:ext cx="56692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+258 ... ]</a:t>
            </a:r>
            <a:endParaRPr lang="en-US" sz="1250" dirty="0"/>
          </a:p>
        </p:txBody>
      </p:sp>
      <p:sp>
        <p:nvSpPr>
          <p:cNvPr id="9" name="Text 6"/>
          <p:cNvSpPr/>
          <p:nvPr/>
        </p:nvSpPr>
        <p:spPr>
          <a:xfrm>
            <a:off x="868680" y="5568696"/>
            <a:ext cx="1371600" cy="274320"/>
          </a:xfrm>
          <a:prstGeom prst="rect">
            <a:avLst/>
          </a:prstGeom>
          <a:noFill/>
          <a:ln/>
        </p:spPr>
        <p:txBody>
          <a:bodyPr wrap="square" lIns="0" tIns="0" rIns="0" bIns="0" rtlCol="0" anchor="ctr"/>
          <a:lstStyle/>
          <a:p>
            <a:pPr indent="0" marL="0">
              <a:buNone/>
            </a:pPr>
            <a:r>
              <a:rPr lang="en-US" sz="1000" b="1" spc="180" kern="0" dirty="0">
                <a:solidFill>
                  <a:srgbClr val="8A8DC0"/>
                </a:solidFill>
                <a:latin typeface="Calibri" pitchFamily="34" charset="0"/>
                <a:ea typeface="Calibri" pitchFamily="34" charset="-122"/>
                <a:cs typeface="Calibri" pitchFamily="34" charset="-120"/>
              </a:rPr>
              <a:t>E-MAIL</a:t>
            </a:r>
            <a:endParaRPr lang="en-US" sz="1000" dirty="0"/>
          </a:p>
        </p:txBody>
      </p:sp>
      <p:sp>
        <p:nvSpPr>
          <p:cNvPr id="10" name="Text 7"/>
          <p:cNvSpPr/>
          <p:nvPr/>
        </p:nvSpPr>
        <p:spPr>
          <a:xfrm>
            <a:off x="2286000" y="5568696"/>
            <a:ext cx="56692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e-mail ]</a:t>
            </a:r>
            <a:endParaRPr lang="en-US" sz="1250" dirty="0"/>
          </a:p>
        </p:txBody>
      </p:sp>
      <p:sp>
        <p:nvSpPr>
          <p:cNvPr id="11" name="Text 8"/>
          <p:cNvSpPr/>
          <p:nvPr/>
        </p:nvSpPr>
        <p:spPr>
          <a:xfrm>
            <a:off x="868680" y="5952744"/>
            <a:ext cx="1371600" cy="274320"/>
          </a:xfrm>
          <a:prstGeom prst="rect">
            <a:avLst/>
          </a:prstGeom>
          <a:noFill/>
          <a:ln/>
        </p:spPr>
        <p:txBody>
          <a:bodyPr wrap="square" lIns="0" tIns="0" rIns="0" bIns="0" rtlCol="0" anchor="ctr"/>
          <a:lstStyle/>
          <a:p>
            <a:pPr indent="0" marL="0">
              <a:buNone/>
            </a:pPr>
            <a:r>
              <a:rPr lang="en-US" sz="1000" b="1" spc="180" kern="0" dirty="0">
                <a:solidFill>
                  <a:srgbClr val="8A8DC0"/>
                </a:solidFill>
                <a:latin typeface="Calibri" pitchFamily="34" charset="0"/>
                <a:ea typeface="Calibri" pitchFamily="34" charset="-122"/>
                <a:cs typeface="Calibri" pitchFamily="34" charset="-120"/>
              </a:rPr>
              <a:t>WEB</a:t>
            </a:r>
            <a:endParaRPr lang="en-US" sz="1000" dirty="0"/>
          </a:p>
        </p:txBody>
      </p:sp>
      <p:sp>
        <p:nvSpPr>
          <p:cNvPr id="12" name="Text 9"/>
          <p:cNvSpPr/>
          <p:nvPr/>
        </p:nvSpPr>
        <p:spPr>
          <a:xfrm>
            <a:off x="2286000" y="5952744"/>
            <a:ext cx="56692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website ]</a:t>
            </a:r>
            <a:endParaRPr lang="en-US" sz="1250" dirty="0"/>
          </a:p>
        </p:txBody>
      </p:sp>
      <p:sp>
        <p:nvSpPr>
          <p:cNvPr id="13" name="Shape 10"/>
          <p:cNvSpPr/>
          <p:nvPr/>
        </p:nvSpPr>
        <p:spPr>
          <a:xfrm>
            <a:off x="8732520" y="2651760"/>
            <a:ext cx="2697480" cy="1024128"/>
          </a:xfrm>
          <a:prstGeom prst="roundRect">
            <a:avLst>
              <a:gd name="adj" fmla="val 8929"/>
            </a:avLst>
          </a:prstGeom>
          <a:solidFill>
            <a:srgbClr val="FFFFFF">
              <a:alpha val="8000"/>
            </a:srgbClr>
          </a:solidFill>
          <a:ln w="9525">
            <a:solidFill>
              <a:srgbClr val="4A4D93"/>
            </a:solidFill>
            <a:prstDash val="solid"/>
          </a:ln>
        </p:spPr>
      </p:sp>
      <p:sp>
        <p:nvSpPr>
          <p:cNvPr id="14" name="Text 11"/>
          <p:cNvSpPr/>
          <p:nvPr/>
        </p:nvSpPr>
        <p:spPr>
          <a:xfrm>
            <a:off x="8979408" y="2779776"/>
            <a:ext cx="2286000" cy="256032"/>
          </a:xfrm>
          <a:prstGeom prst="rect">
            <a:avLst/>
          </a:prstGeom>
          <a:noFill/>
          <a:ln/>
        </p:spPr>
        <p:txBody>
          <a:bodyPr wrap="square" lIns="0" tIns="0" rIns="0" bIns="0" rtlCol="0" anchor="ctr"/>
          <a:lstStyle/>
          <a:p>
            <a:pPr indent="0" marL="0">
              <a:buNone/>
            </a:pPr>
            <a:r>
              <a:rPr lang="en-US" sz="1250" b="1" spc="160" kern="0" dirty="0">
                <a:solidFill>
                  <a:srgbClr val="FFFFFF"/>
                </a:solidFill>
                <a:latin typeface="Calibri" pitchFamily="34" charset="0"/>
                <a:ea typeface="Calibri" pitchFamily="34" charset="-122"/>
                <a:cs typeface="Calibri" pitchFamily="34" charset="-120"/>
              </a:rPr>
              <a:t>TAX</a:t>
            </a:r>
            <a:endParaRPr lang="en-US" sz="1250" dirty="0"/>
          </a:p>
        </p:txBody>
      </p:sp>
      <p:sp>
        <p:nvSpPr>
          <p:cNvPr id="15" name="Text 12"/>
          <p:cNvSpPr/>
          <p:nvPr/>
        </p:nvSpPr>
        <p:spPr>
          <a:xfrm>
            <a:off x="8979408" y="3063240"/>
            <a:ext cx="2240280" cy="548640"/>
          </a:xfrm>
          <a:prstGeom prst="rect">
            <a:avLst/>
          </a:prstGeom>
          <a:noFill/>
          <a:ln/>
        </p:spPr>
        <p:txBody>
          <a:bodyPr wrap="square" lIns="0" tIns="0" rIns="0" bIns="0" rtlCol="0" anchor="ctr"/>
          <a:lstStyle/>
          <a:p>
            <a:pPr indent="0" marL="0">
              <a:lnSpc>
                <a:spcPct val="120000"/>
              </a:lnSpc>
              <a:buNone/>
            </a:pPr>
            <a:r>
              <a:rPr lang="en-US" sz="1050" dirty="0">
                <a:solidFill>
                  <a:srgbClr val="AFB1D8"/>
                </a:solidFill>
                <a:latin typeface="Calibri" pitchFamily="34" charset="0"/>
                <a:ea typeface="Calibri" pitchFamily="34" charset="-122"/>
                <a:cs typeface="Calibri" pitchFamily="34" charset="-120"/>
              </a:rPr>
              <a:t>Compliance, planning and tax litigation</a:t>
            </a:r>
            <a:endParaRPr lang="en-US" sz="1050" dirty="0"/>
          </a:p>
        </p:txBody>
      </p:sp>
      <p:sp>
        <p:nvSpPr>
          <p:cNvPr id="16" name="Shape 13"/>
          <p:cNvSpPr/>
          <p:nvPr/>
        </p:nvSpPr>
        <p:spPr>
          <a:xfrm>
            <a:off x="8732520" y="3886200"/>
            <a:ext cx="2697480" cy="1024128"/>
          </a:xfrm>
          <a:prstGeom prst="roundRect">
            <a:avLst>
              <a:gd name="adj" fmla="val 8929"/>
            </a:avLst>
          </a:prstGeom>
          <a:solidFill>
            <a:srgbClr val="FFFFFF">
              <a:alpha val="8000"/>
            </a:srgbClr>
          </a:solidFill>
          <a:ln w="9525">
            <a:solidFill>
              <a:srgbClr val="4A4D93"/>
            </a:solidFill>
            <a:prstDash val="solid"/>
          </a:ln>
        </p:spPr>
      </p:sp>
      <p:sp>
        <p:nvSpPr>
          <p:cNvPr id="17" name="Text 14"/>
          <p:cNvSpPr/>
          <p:nvPr/>
        </p:nvSpPr>
        <p:spPr>
          <a:xfrm>
            <a:off x="8979408" y="4014216"/>
            <a:ext cx="2286000" cy="256032"/>
          </a:xfrm>
          <a:prstGeom prst="rect">
            <a:avLst/>
          </a:prstGeom>
          <a:noFill/>
          <a:ln/>
        </p:spPr>
        <p:txBody>
          <a:bodyPr wrap="square" lIns="0" tIns="0" rIns="0" bIns="0" rtlCol="0" anchor="ctr"/>
          <a:lstStyle/>
          <a:p>
            <a:pPr indent="0" marL="0">
              <a:buNone/>
            </a:pPr>
            <a:r>
              <a:rPr lang="en-US" sz="1250" b="1" spc="160" kern="0" dirty="0">
                <a:solidFill>
                  <a:srgbClr val="FFFFFF"/>
                </a:solidFill>
                <a:latin typeface="Calibri" pitchFamily="34" charset="0"/>
                <a:ea typeface="Calibri" pitchFamily="34" charset="-122"/>
                <a:cs typeface="Calibri" pitchFamily="34" charset="-120"/>
              </a:rPr>
              <a:t>BUSINESS</a:t>
            </a:r>
            <a:endParaRPr lang="en-US" sz="1250" dirty="0"/>
          </a:p>
        </p:txBody>
      </p:sp>
      <p:sp>
        <p:nvSpPr>
          <p:cNvPr id="18" name="Text 15"/>
          <p:cNvSpPr/>
          <p:nvPr/>
        </p:nvSpPr>
        <p:spPr>
          <a:xfrm>
            <a:off x="8979408" y="4297680"/>
            <a:ext cx="2240280" cy="548640"/>
          </a:xfrm>
          <a:prstGeom prst="rect">
            <a:avLst/>
          </a:prstGeom>
          <a:noFill/>
          <a:ln/>
        </p:spPr>
        <p:txBody>
          <a:bodyPr wrap="square" lIns="0" tIns="0" rIns="0" bIns="0" rtlCol="0" anchor="ctr"/>
          <a:lstStyle/>
          <a:p>
            <a:pPr indent="0" marL="0">
              <a:lnSpc>
                <a:spcPct val="120000"/>
              </a:lnSpc>
              <a:buNone/>
            </a:pPr>
            <a:r>
              <a:rPr lang="en-US" sz="1050" dirty="0">
                <a:solidFill>
                  <a:srgbClr val="AFB1D8"/>
                </a:solidFill>
                <a:latin typeface="Calibri" pitchFamily="34" charset="0"/>
                <a:ea typeface="Calibri" pitchFamily="34" charset="-122"/>
                <a:cs typeface="Calibri" pitchFamily="34" charset="-120"/>
              </a:rPr>
              <a:t>Accounting, payroll and management reporting</a:t>
            </a:r>
            <a:endParaRPr lang="en-US" sz="1050" dirty="0"/>
          </a:p>
        </p:txBody>
      </p:sp>
      <p:sp>
        <p:nvSpPr>
          <p:cNvPr id="19" name="Shape 16"/>
          <p:cNvSpPr/>
          <p:nvPr/>
        </p:nvSpPr>
        <p:spPr>
          <a:xfrm>
            <a:off x="8732520" y="5120640"/>
            <a:ext cx="2697480" cy="1024128"/>
          </a:xfrm>
          <a:prstGeom prst="roundRect">
            <a:avLst>
              <a:gd name="adj" fmla="val 8929"/>
            </a:avLst>
          </a:prstGeom>
          <a:solidFill>
            <a:srgbClr val="FFFFFF">
              <a:alpha val="8000"/>
            </a:srgbClr>
          </a:solidFill>
          <a:ln w="9525">
            <a:solidFill>
              <a:srgbClr val="4A4D93"/>
            </a:solidFill>
            <a:prstDash val="solid"/>
          </a:ln>
        </p:spPr>
      </p:sp>
      <p:sp>
        <p:nvSpPr>
          <p:cNvPr id="20" name="Text 17"/>
          <p:cNvSpPr/>
          <p:nvPr/>
        </p:nvSpPr>
        <p:spPr>
          <a:xfrm>
            <a:off x="8979408" y="5248656"/>
            <a:ext cx="2286000" cy="256032"/>
          </a:xfrm>
          <a:prstGeom prst="rect">
            <a:avLst/>
          </a:prstGeom>
          <a:noFill/>
          <a:ln/>
        </p:spPr>
        <p:txBody>
          <a:bodyPr wrap="square" lIns="0" tIns="0" rIns="0" bIns="0" rtlCol="0" anchor="ctr"/>
          <a:lstStyle/>
          <a:p>
            <a:pPr indent="0" marL="0">
              <a:buNone/>
            </a:pPr>
            <a:r>
              <a:rPr lang="en-US" sz="1250" b="1" spc="160" kern="0" dirty="0">
                <a:solidFill>
                  <a:srgbClr val="FFFFFF"/>
                </a:solidFill>
                <a:latin typeface="Calibri" pitchFamily="34" charset="0"/>
                <a:ea typeface="Calibri" pitchFamily="34" charset="-122"/>
                <a:cs typeface="Calibri" pitchFamily="34" charset="-120"/>
              </a:rPr>
              <a:t>CORPORATE</a:t>
            </a:r>
            <a:endParaRPr lang="en-US" sz="1250" dirty="0"/>
          </a:p>
        </p:txBody>
      </p:sp>
      <p:sp>
        <p:nvSpPr>
          <p:cNvPr id="21" name="Text 18"/>
          <p:cNvSpPr/>
          <p:nvPr/>
        </p:nvSpPr>
        <p:spPr>
          <a:xfrm>
            <a:off x="8979408" y="5532120"/>
            <a:ext cx="2240280" cy="548640"/>
          </a:xfrm>
          <a:prstGeom prst="rect">
            <a:avLst/>
          </a:prstGeom>
          <a:noFill/>
          <a:ln/>
        </p:spPr>
        <p:txBody>
          <a:bodyPr wrap="square" lIns="0" tIns="0" rIns="0" bIns="0" rtlCol="0" anchor="ctr"/>
          <a:lstStyle/>
          <a:p>
            <a:pPr indent="0" marL="0">
              <a:lnSpc>
                <a:spcPct val="120000"/>
              </a:lnSpc>
              <a:buNone/>
            </a:pPr>
            <a:r>
              <a:rPr lang="en-US" sz="1050" dirty="0">
                <a:solidFill>
                  <a:srgbClr val="AFB1D8"/>
                </a:solidFill>
                <a:latin typeface="Calibri" pitchFamily="34" charset="0"/>
                <a:ea typeface="Calibri" pitchFamily="34" charset="-122"/>
                <a:cs typeface="Calibri" pitchFamily="34" charset="-120"/>
              </a:rPr>
              <a:t>Incorporation, secretarial and governance</a:t>
            </a:r>
            <a:endParaRPr lang="en-US" sz="1050" dirty="0"/>
          </a:p>
        </p:txBody>
      </p:sp>
      <p:sp>
        <p:nvSpPr>
          <p:cNvPr id="22" name="Text 19"/>
          <p:cNvSpPr/>
          <p:nvPr/>
        </p:nvSpPr>
        <p:spPr>
          <a:xfrm>
            <a:off x="868680" y="6263640"/>
            <a:ext cx="7863840" cy="320040"/>
          </a:xfrm>
          <a:prstGeom prst="rect">
            <a:avLst/>
          </a:prstGeom>
          <a:noFill/>
          <a:ln/>
        </p:spPr>
        <p:txBody>
          <a:bodyPr wrap="square" lIns="0" tIns="0" rIns="0" bIns="0" rtlCol="0" anchor="ctr"/>
          <a:lstStyle/>
          <a:p>
            <a:pPr indent="0" marL="0">
              <a:lnSpc>
                <a:spcPct val="120000"/>
              </a:lnSpc>
              <a:buNone/>
            </a:pPr>
            <a:r>
              <a:rPr lang="en-US" sz="900" dirty="0">
                <a:solidFill>
                  <a:srgbClr val="8A8DC0"/>
                </a:solidFill>
                <a:latin typeface="Calibri" pitchFamily="34" charset="0"/>
                <a:ea typeface="Calibri" pitchFamily="34" charset="-122"/>
                <a:cs typeface="Calibri" pitchFamily="34" charset="-120"/>
              </a:rPr>
              <a:t>This document is general information only and does not constitute legal or tax advice. Requirements and fees may change; please seek specific advice before acting.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Register a Company in Mozambique</dc:title>
  <dc:subject>PptxGenJS Presentation</dc:subject>
  <dc:creator>Tax Advisory — Sociedade Unipessoal, Lda</dc:creator>
  <cp:lastModifiedBy>Tax Advisory — Sociedade Unipessoal, Lda</cp:lastModifiedBy>
  <cp:revision>1</cp:revision>
  <dcterms:created xsi:type="dcterms:W3CDTF">2026-08-06T14:17:06Z</dcterms:created>
  <dcterms:modified xsi:type="dcterms:W3CDTF">2026-08-06T14:17:06Z</dcterms:modified>
</cp:coreProperties>
</file>